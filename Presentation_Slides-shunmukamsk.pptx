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8" r:id="rId19"/>
    <p:sldId id="279" r:id="rId2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84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67785"/>
            <a:ext cx="83745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79764" y="2826786"/>
            <a:ext cx="7384471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38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38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38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8803" y="15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1015199" y="1015200"/>
                </a:moveTo>
                <a:lnTo>
                  <a:pt x="0" y="1015200"/>
                </a:lnTo>
                <a:lnTo>
                  <a:pt x="0" y="0"/>
                </a:lnTo>
                <a:lnTo>
                  <a:pt x="1015199" y="0"/>
                </a:lnTo>
                <a:lnTo>
                  <a:pt x="1015199" y="1015200"/>
                </a:lnTo>
                <a:close/>
              </a:path>
            </a:pathLst>
          </a:custGeom>
          <a:solidFill>
            <a:srgbClr val="212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13463" y="4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1015199" y="1015199"/>
                </a:moveTo>
                <a:lnTo>
                  <a:pt x="0" y="1015199"/>
                </a:lnTo>
                <a:lnTo>
                  <a:pt x="1015199" y="0"/>
                </a:lnTo>
                <a:lnTo>
                  <a:pt x="1015199" y="1015199"/>
                </a:lnTo>
                <a:close/>
              </a:path>
            </a:pathLst>
          </a:custGeom>
          <a:solidFill>
            <a:srgbClr val="3849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113588" y="106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0" y="1015200"/>
                </a:moveTo>
                <a:lnTo>
                  <a:pt x="0" y="0"/>
                </a:lnTo>
                <a:lnTo>
                  <a:pt x="1015199" y="0"/>
                </a:lnTo>
                <a:lnTo>
                  <a:pt x="0" y="1015200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098378" y="96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5">
                <a:moveTo>
                  <a:pt x="1015199" y="1015200"/>
                </a:moveTo>
                <a:lnTo>
                  <a:pt x="0" y="0"/>
                </a:lnTo>
                <a:lnTo>
                  <a:pt x="1015199" y="0"/>
                </a:lnTo>
                <a:lnTo>
                  <a:pt x="1015199" y="1015200"/>
                </a:lnTo>
                <a:close/>
              </a:path>
            </a:pathLst>
          </a:custGeom>
          <a:solidFill>
            <a:srgbClr val="212D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128789" y="1015375"/>
            <a:ext cx="1015365" cy="1015365"/>
          </a:xfrm>
          <a:custGeom>
            <a:avLst/>
            <a:gdLst/>
            <a:ahLst/>
            <a:cxnLst/>
            <a:rect l="l" t="t" r="r" b="b"/>
            <a:pathLst>
              <a:path w="1015365" h="1015364">
                <a:moveTo>
                  <a:pt x="1015199" y="1015200"/>
                </a:moveTo>
                <a:lnTo>
                  <a:pt x="0" y="0"/>
                </a:lnTo>
                <a:lnTo>
                  <a:pt x="1015199" y="0"/>
                </a:lnTo>
                <a:lnTo>
                  <a:pt x="1015199" y="1015200"/>
                </a:lnTo>
                <a:close/>
              </a:path>
            </a:pathLst>
          </a:custGeom>
          <a:solidFill>
            <a:srgbClr val="7890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67785"/>
            <a:ext cx="83745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A38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0350" y="2173675"/>
            <a:ext cx="7136765" cy="2317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42735" y="4763187"/>
            <a:ext cx="231775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uciml/default-of-credit-card-clients-dataset" TargetMode="External"/><Relationship Id="rId2" Type="http://schemas.openxmlformats.org/officeDocument/2006/relationships/hyperlink" Target="http://archive.ics.uci.edu/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98378" y="4"/>
            <a:ext cx="3046095" cy="203073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200"/>
                  </a:moveTo>
                  <a:lnTo>
                    <a:pt x="0" y="1015200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71125" y="1419664"/>
            <a:ext cx="7762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</a:rPr>
              <a:t>C</a:t>
            </a:r>
            <a:r>
              <a:rPr sz="4200" spc="-45" dirty="0">
                <a:solidFill>
                  <a:srgbClr val="FFFFFF"/>
                </a:solidFill>
              </a:rPr>
              <a:t>r</a:t>
            </a:r>
            <a:r>
              <a:rPr sz="4200" spc="-145" dirty="0">
                <a:solidFill>
                  <a:srgbClr val="FFFFFF"/>
                </a:solidFill>
              </a:rPr>
              <a:t>edi</a:t>
            </a:r>
            <a:r>
              <a:rPr sz="4200" spc="-114" dirty="0">
                <a:solidFill>
                  <a:srgbClr val="FFFFFF"/>
                </a:solidFill>
              </a:rPr>
              <a:t>t</a:t>
            </a:r>
            <a:r>
              <a:rPr sz="4200" spc="-235" dirty="0">
                <a:solidFill>
                  <a:srgbClr val="FFFFFF"/>
                </a:solidFill>
              </a:rPr>
              <a:t> </a:t>
            </a:r>
            <a:r>
              <a:rPr sz="4200" spc="25" dirty="0">
                <a:solidFill>
                  <a:srgbClr val="FFFFFF"/>
                </a:solidFill>
              </a:rPr>
              <a:t>Ca</a:t>
            </a:r>
            <a:r>
              <a:rPr sz="4200" spc="-25" dirty="0">
                <a:solidFill>
                  <a:srgbClr val="FFFFFF"/>
                </a:solidFill>
              </a:rPr>
              <a:t>r</a:t>
            </a:r>
            <a:r>
              <a:rPr sz="4200" spc="25" dirty="0">
                <a:solidFill>
                  <a:srgbClr val="FFFFFF"/>
                </a:solidFill>
              </a:rPr>
              <a:t>d</a:t>
            </a:r>
            <a:r>
              <a:rPr sz="4200" spc="-240" dirty="0">
                <a:solidFill>
                  <a:srgbClr val="FFFFFF"/>
                </a:solidFill>
              </a:rPr>
              <a:t> </a:t>
            </a:r>
            <a:r>
              <a:rPr sz="4200" spc="-70">
                <a:solidFill>
                  <a:srgbClr val="FFFFFF"/>
                </a:solidFill>
              </a:rPr>
              <a:t>Defaul</a:t>
            </a:r>
            <a:r>
              <a:rPr sz="4200" spc="-50">
                <a:solidFill>
                  <a:srgbClr val="FFFFFF"/>
                </a:solidFill>
              </a:rPr>
              <a:t>t</a:t>
            </a:r>
            <a:r>
              <a:rPr sz="4200" spc="-235">
                <a:solidFill>
                  <a:srgbClr val="FFFFFF"/>
                </a:solidFill>
              </a:rPr>
              <a:t> </a:t>
            </a:r>
            <a:r>
              <a:rPr lang="en-US" sz="4200" spc="-235" dirty="0" smtClean="0">
                <a:solidFill>
                  <a:srgbClr val="FFFFFF"/>
                </a:solidFill>
              </a:rPr>
              <a:t>Prediction</a:t>
            </a:r>
            <a:endParaRPr sz="4200"/>
          </a:p>
        </p:txBody>
      </p:sp>
      <p:sp>
        <p:nvSpPr>
          <p:cNvPr id="12" name="object 12"/>
          <p:cNvSpPr txBox="1"/>
          <p:nvPr/>
        </p:nvSpPr>
        <p:spPr>
          <a:xfrm>
            <a:off x="8814020" y="4763187"/>
            <a:ext cx="160655" cy="17462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25"/>
                </a:spcBef>
              </a:pPr>
              <a:t>1</a:t>
            </a:fld>
            <a:endParaRPr sz="1000">
              <a:latin typeface="Trebuchet MS"/>
              <a:cs typeface="Trebuchet M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62200" y="249555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By </a:t>
            </a:r>
            <a:r>
              <a:rPr lang="en-US" sz="3600" dirty="0" err="1" smtClean="0">
                <a:solidFill>
                  <a:schemeClr val="bg1"/>
                </a:solidFill>
              </a:rPr>
              <a:t>Shunmukam.s.k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4963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P</a:t>
            </a:r>
            <a:r>
              <a:rPr spc="-5" dirty="0"/>
              <a:t>r</a:t>
            </a:r>
            <a:r>
              <a:rPr spc="60" dirty="0"/>
              <a:t>oblem</a:t>
            </a:r>
            <a:r>
              <a:rPr spc="45" dirty="0"/>
              <a:t>s</a:t>
            </a:r>
            <a:r>
              <a:rPr spc="-165" dirty="0"/>
              <a:t> </a:t>
            </a:r>
            <a:r>
              <a:rPr spc="-240" dirty="0"/>
              <a:t>t</a:t>
            </a:r>
            <a:r>
              <a:rPr spc="100" dirty="0"/>
              <a:t>o</a:t>
            </a:r>
            <a:r>
              <a:rPr spc="-165" dirty="0"/>
              <a:t> </a:t>
            </a:r>
            <a:r>
              <a:rPr spc="45" dirty="0"/>
              <a:t>Resol</a:t>
            </a:r>
            <a:r>
              <a:rPr spc="25" dirty="0"/>
              <a:t>v</a:t>
            </a:r>
            <a:r>
              <a:rPr spc="-50" dirty="0"/>
              <a:t>e</a:t>
            </a:r>
          </a:p>
        </p:txBody>
      </p:sp>
      <p:sp>
        <p:nvSpPr>
          <p:cNvPr id="3" name="object 3"/>
          <p:cNvSpPr/>
          <p:nvPr/>
        </p:nvSpPr>
        <p:spPr>
          <a:xfrm>
            <a:off x="431955" y="1304875"/>
            <a:ext cx="3784600" cy="3416935"/>
          </a:xfrm>
          <a:custGeom>
            <a:avLst/>
            <a:gdLst/>
            <a:ahLst/>
            <a:cxnLst/>
            <a:rect l="l" t="t" r="r" b="b"/>
            <a:pathLst>
              <a:path w="3784600" h="3416935">
                <a:moveTo>
                  <a:pt x="0" y="0"/>
                </a:moveTo>
                <a:lnTo>
                  <a:pt x="3784038" y="0"/>
                </a:lnTo>
                <a:lnTo>
                  <a:pt x="3784038" y="3416399"/>
                </a:lnTo>
                <a:lnTo>
                  <a:pt x="0" y="3416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A38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6717" y="1304875"/>
            <a:ext cx="3775075" cy="464184"/>
          </a:xfrm>
          <a:prstGeom prst="rect">
            <a:avLst/>
          </a:prstGeom>
          <a:solidFill>
            <a:srgbClr val="2A389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Statement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717" y="1882812"/>
            <a:ext cx="3775075" cy="2534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045" marR="657860" indent="-351790">
              <a:lnSpc>
                <a:spcPct val="113300"/>
              </a:lnSpc>
              <a:spcBef>
                <a:spcPts val="100"/>
              </a:spcBef>
              <a:buFont typeface="Arial"/>
              <a:buChar char="●"/>
              <a:tabLst>
                <a:tab pos="614045" algn="l"/>
                <a:tab pos="614680" algn="l"/>
              </a:tabLst>
            </a:pPr>
            <a:r>
              <a:rPr lang="en-US" sz="1700" spc="-95" dirty="0">
                <a:latin typeface="Trebuchet MS" pitchFamily="34" charset="0"/>
                <a:cs typeface="Trebuchet MS"/>
              </a:rPr>
              <a:t>Financial</a:t>
            </a:r>
            <a:r>
              <a:rPr lang="en-US" sz="1600" dirty="0" smtClean="0">
                <a:latin typeface="Trebuchet MS" pitchFamily="34" charset="0"/>
              </a:rPr>
              <a:t> </a:t>
            </a:r>
            <a:r>
              <a:rPr lang="en-US" sz="1700" spc="-95" dirty="0">
                <a:latin typeface="Trebuchet MS" pitchFamily="34" charset="0"/>
                <a:cs typeface="Trebuchet MS"/>
              </a:rPr>
              <a:t>threats</a:t>
            </a:r>
            <a:r>
              <a:rPr lang="en-US" sz="1600" dirty="0" smtClean="0">
                <a:latin typeface="Trebuchet MS" pitchFamily="34" charset="0"/>
              </a:rPr>
              <a:t>  </a:t>
            </a:r>
            <a:r>
              <a:rPr lang="en-US" sz="1600" dirty="0">
                <a:latin typeface="Trebuchet MS" pitchFamily="34" charset="0"/>
              </a:rPr>
              <a:t>are</a:t>
            </a:r>
            <a:r>
              <a:rPr lang="en-US" sz="1600" dirty="0" smtClean="0">
                <a:latin typeface="Trebuchet MS" pitchFamily="34" charset="0"/>
              </a:rPr>
              <a:t> </a:t>
            </a:r>
            <a:r>
              <a:rPr lang="en-US" sz="1600" dirty="0">
                <a:latin typeface="Trebuchet MS" pitchFamily="34" charset="0"/>
              </a:rPr>
              <a:t>displaying</a:t>
            </a:r>
            <a:r>
              <a:rPr lang="en-US" sz="1600" dirty="0" smtClean="0">
                <a:latin typeface="Trebuchet MS" pitchFamily="34" charset="0"/>
              </a:rPr>
              <a:t> a trend about the credit risk of commercial banks. The goal is to predict the probability of credit default based on credit card owner's payment history</a:t>
            </a:r>
            <a:r>
              <a:rPr lang="en-US" sz="1600" dirty="0" smtClean="0"/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27755" y="1304875"/>
            <a:ext cx="3784600" cy="3416935"/>
          </a:xfrm>
          <a:custGeom>
            <a:avLst/>
            <a:gdLst/>
            <a:ahLst/>
            <a:cxnLst/>
            <a:rect l="l" t="t" r="r" b="b"/>
            <a:pathLst>
              <a:path w="3784600" h="3416935">
                <a:moveTo>
                  <a:pt x="0" y="0"/>
                </a:moveTo>
                <a:lnTo>
                  <a:pt x="3784038" y="0"/>
                </a:lnTo>
                <a:lnTo>
                  <a:pt x="3784038" y="3416399"/>
                </a:lnTo>
                <a:lnTo>
                  <a:pt x="0" y="3416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A38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2517" y="1304875"/>
            <a:ext cx="3775075" cy="464184"/>
          </a:xfrm>
          <a:prstGeom prst="rect">
            <a:avLst/>
          </a:prstGeom>
          <a:solidFill>
            <a:srgbClr val="2A389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00"/>
              </a:spcBef>
            </a:pP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Purpose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14020" y="4763187"/>
            <a:ext cx="160655" cy="17462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000" spc="35" dirty="0">
                <a:solidFill>
                  <a:srgbClr val="FFFFFF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25"/>
                </a:spcBef>
              </a:pPr>
              <a:t>2</a:t>
            </a:fld>
            <a:endParaRPr sz="1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32517" y="1839531"/>
            <a:ext cx="377507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945" marR="246379" indent="-359410">
              <a:lnSpc>
                <a:spcPct val="113999"/>
              </a:lnSpc>
              <a:spcBef>
                <a:spcPts val="100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10">
                <a:latin typeface="Trebuchet MS"/>
                <a:cs typeface="Trebuchet MS"/>
              </a:rPr>
              <a:t>Conduct</a:t>
            </a:r>
            <a:r>
              <a:rPr sz="1700" spc="-100" smtClean="0">
                <a:latin typeface="Trebuchet MS"/>
                <a:cs typeface="Trebuchet MS"/>
              </a:rPr>
              <a:t> </a:t>
            </a:r>
            <a:r>
              <a:rPr sz="1700" spc="-45" dirty="0">
                <a:latin typeface="Trebuchet MS"/>
                <a:cs typeface="Trebuchet MS"/>
              </a:rPr>
              <a:t>quantitati</a:t>
            </a:r>
            <a:r>
              <a:rPr sz="1700" spc="-60" smtClean="0">
                <a:latin typeface="Trebuchet MS"/>
                <a:cs typeface="Trebuchet MS"/>
              </a:rPr>
              <a:t>v</a:t>
            </a:r>
            <a:r>
              <a:rPr sz="1700" spc="-30" smtClean="0">
                <a:latin typeface="Trebuchet MS"/>
                <a:cs typeface="Trebuchet MS"/>
              </a:rPr>
              <a:t>e</a:t>
            </a:r>
            <a:r>
              <a:rPr sz="1700" spc="-95" smtClean="0">
                <a:latin typeface="Trebuchet MS"/>
                <a:cs typeface="Trebuchet MS"/>
              </a:rPr>
              <a:t> </a:t>
            </a:r>
            <a:r>
              <a:rPr sz="1700" spc="20" dirty="0">
                <a:latin typeface="Trebuchet MS"/>
                <a:cs typeface="Trebuchet MS"/>
              </a:rPr>
              <a:t>analysis  </a:t>
            </a:r>
            <a:r>
              <a:rPr sz="1700" spc="25" dirty="0">
                <a:latin typeface="Trebuchet MS"/>
                <a:cs typeface="Trebuchet MS"/>
              </a:rPr>
              <a:t>o</a:t>
            </a:r>
            <a:r>
              <a:rPr sz="1700" spc="30" dirty="0">
                <a:latin typeface="Trebuchet MS"/>
                <a:cs typeface="Trebuchet MS"/>
              </a:rPr>
              <a:t>n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30">
                <a:latin typeface="Trebuchet MS"/>
                <a:cs typeface="Trebuchet MS"/>
              </a:rPr>
              <a:t>c</a:t>
            </a:r>
            <a:r>
              <a:rPr sz="1700" spc="-40">
                <a:latin typeface="Trebuchet MS"/>
                <a:cs typeface="Trebuchet MS"/>
              </a:rPr>
              <a:t>r</a:t>
            </a:r>
            <a:r>
              <a:rPr sz="1700" spc="-60">
                <a:latin typeface="Trebuchet MS"/>
                <a:cs typeface="Trebuchet MS"/>
              </a:rPr>
              <a:t>edi</a:t>
            </a:r>
            <a:r>
              <a:rPr sz="1700" spc="-50">
                <a:latin typeface="Trebuchet MS"/>
                <a:cs typeface="Trebuchet MS"/>
              </a:rPr>
              <a:t>t</a:t>
            </a:r>
            <a:r>
              <a:rPr sz="1700" spc="-95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defaul</a:t>
            </a:r>
            <a:r>
              <a:rPr sz="1700" spc="-30" smtClean="0">
                <a:latin typeface="Trebuchet MS"/>
                <a:cs typeface="Trebuchet MS"/>
              </a:rPr>
              <a:t>t</a:t>
            </a:r>
            <a:r>
              <a:rPr sz="1700" spc="-100" smtClean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ris</a:t>
            </a:r>
            <a:r>
              <a:rPr sz="1700" spc="10" dirty="0">
                <a:latin typeface="Trebuchet MS"/>
                <a:cs typeface="Trebuchet MS"/>
              </a:rPr>
              <a:t>k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b</a:t>
            </a:r>
            <a:r>
              <a:rPr sz="1700" spc="-30" dirty="0">
                <a:latin typeface="Trebuchet MS"/>
                <a:cs typeface="Trebuchet MS"/>
              </a:rPr>
              <a:t>y  </a:t>
            </a:r>
            <a:r>
              <a:rPr sz="1700" spc="-10">
                <a:latin typeface="Trebuchet MS"/>
                <a:cs typeface="Trebuchet MS"/>
              </a:rPr>
              <a:t>applying</a:t>
            </a:r>
            <a:r>
              <a:rPr sz="1700" spc="-100">
                <a:latin typeface="Trebuchet MS"/>
                <a:cs typeface="Trebuchet MS"/>
              </a:rPr>
              <a:t> </a:t>
            </a:r>
            <a:r>
              <a:rPr lang="en-US" sz="1700" spc="-75" dirty="0" smtClean="0">
                <a:latin typeface="Trebuchet MS"/>
                <a:cs typeface="Trebuchet MS"/>
              </a:rPr>
              <a:t>six</a:t>
            </a:r>
            <a:r>
              <a:rPr sz="1700" spc="-95" smtClean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interp</a:t>
            </a:r>
            <a:r>
              <a:rPr sz="1700" spc="-70" smtClean="0">
                <a:latin typeface="Trebuchet MS"/>
                <a:cs typeface="Trebuchet MS"/>
              </a:rPr>
              <a:t>r</a:t>
            </a:r>
            <a:r>
              <a:rPr sz="1700" spc="-40" smtClean="0">
                <a:latin typeface="Trebuchet MS"/>
                <a:cs typeface="Trebuchet MS"/>
              </a:rPr>
              <a:t>etable  </a:t>
            </a:r>
            <a:r>
              <a:rPr sz="1700" spc="5" dirty="0">
                <a:latin typeface="Trebuchet MS"/>
                <a:cs typeface="Trebuchet MS"/>
              </a:rPr>
              <a:t>machine </a:t>
            </a:r>
            <a:r>
              <a:rPr sz="1700" spc="-20" dirty="0">
                <a:latin typeface="Trebuchet MS"/>
                <a:cs typeface="Trebuchet MS"/>
              </a:rPr>
              <a:t>learning </a:t>
            </a:r>
            <a:r>
              <a:rPr sz="1700" spc="30" dirty="0">
                <a:latin typeface="Trebuchet MS"/>
                <a:cs typeface="Trebuchet MS"/>
              </a:rPr>
              <a:t>models </a:t>
            </a:r>
            <a:r>
              <a:rPr sz="1700" spc="3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withou</a:t>
            </a:r>
            <a:r>
              <a:rPr sz="1700" spc="-3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utilizin</a:t>
            </a:r>
            <a:r>
              <a:rPr sz="1700" spc="-40" dirty="0">
                <a:latin typeface="Trebuchet MS"/>
                <a:cs typeface="Trebuchet MS"/>
              </a:rPr>
              <a:t>g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c</a:t>
            </a:r>
            <a:r>
              <a:rPr sz="1700" spc="-40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edi</a:t>
            </a:r>
            <a:r>
              <a:rPr sz="1700" spc="-5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45" dirty="0">
                <a:latin typeface="Trebuchet MS"/>
                <a:cs typeface="Trebuchet MS"/>
              </a:rPr>
              <a:t>sco</a:t>
            </a:r>
            <a:r>
              <a:rPr sz="1700" spc="20" dirty="0">
                <a:latin typeface="Trebuchet MS"/>
                <a:cs typeface="Trebuchet MS"/>
              </a:rPr>
              <a:t>r</a:t>
            </a:r>
            <a:r>
              <a:rPr sz="1700" spc="-30" dirty="0">
                <a:latin typeface="Trebuchet MS"/>
                <a:cs typeface="Trebuchet MS"/>
              </a:rPr>
              <a:t>e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or  </a:t>
            </a:r>
            <a:r>
              <a:rPr sz="1700" spc="-30" dirty="0">
                <a:latin typeface="Trebuchet MS"/>
                <a:cs typeface="Trebuchet MS"/>
              </a:rPr>
              <a:t>c</a:t>
            </a:r>
            <a:r>
              <a:rPr sz="1700" spc="-40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edi</a:t>
            </a:r>
            <a:r>
              <a:rPr sz="1700" spc="-5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his</a:t>
            </a:r>
            <a:r>
              <a:rPr sz="1700" spc="-20" dirty="0">
                <a:latin typeface="Trebuchet MS"/>
                <a:cs typeface="Trebuchet MS"/>
              </a:rPr>
              <a:t>t</a:t>
            </a:r>
            <a:r>
              <a:rPr sz="1700" spc="-25" dirty="0">
                <a:latin typeface="Trebuchet MS"/>
                <a:cs typeface="Trebuchet MS"/>
              </a:rPr>
              <a:t>o</a:t>
            </a:r>
            <a:r>
              <a:rPr sz="1700" spc="-5" dirty="0">
                <a:latin typeface="Trebuchet MS"/>
                <a:cs typeface="Trebuchet MS"/>
              </a:rPr>
              <a:t>r</a:t>
            </a:r>
            <a:r>
              <a:rPr sz="1700" spc="-125" dirty="0">
                <a:latin typeface="Trebuchet MS"/>
                <a:cs typeface="Trebuchet MS"/>
              </a:rPr>
              <a:t>y</a:t>
            </a:r>
            <a:r>
              <a:rPr sz="1700" spc="-18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108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Who</a:t>
            </a:r>
            <a:r>
              <a:rPr spc="-200" dirty="0"/>
              <a:t> </a:t>
            </a:r>
            <a:r>
              <a:rPr spc="50" dirty="0"/>
              <a:t>Should</a:t>
            </a:r>
            <a:r>
              <a:rPr spc="-200" dirty="0"/>
              <a:t> </a:t>
            </a:r>
            <a:r>
              <a:rPr spc="55" dirty="0"/>
              <a:t>Care?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00" y="1326231"/>
            <a:ext cx="2398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latin typeface="Trebuchet MS"/>
                <a:cs typeface="Trebuchet MS"/>
              </a:rPr>
              <a:t>C</a:t>
            </a:r>
            <a:r>
              <a:rPr sz="1800" b="1" spc="-35" dirty="0">
                <a:latin typeface="Trebuchet MS"/>
                <a:cs typeface="Trebuchet MS"/>
              </a:rPr>
              <a:t>r</a:t>
            </a:r>
            <a:r>
              <a:rPr sz="1800" b="1" spc="-75" dirty="0">
                <a:latin typeface="Trebuchet MS"/>
                <a:cs typeface="Trebuchet MS"/>
              </a:rPr>
              <a:t>edi</a:t>
            </a:r>
            <a:r>
              <a:rPr sz="1800" b="1" spc="-60" dirty="0">
                <a:latin typeface="Trebuchet MS"/>
                <a:cs typeface="Trebuchet MS"/>
              </a:rPr>
              <a:t>t</a:t>
            </a:r>
            <a:r>
              <a:rPr sz="1800" b="1" spc="-10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Ca</a:t>
            </a:r>
            <a:r>
              <a:rPr sz="1800" b="1" spc="-30" dirty="0">
                <a:latin typeface="Trebuchet MS"/>
                <a:cs typeface="Trebuchet MS"/>
              </a:rPr>
              <a:t>r</a:t>
            </a:r>
            <a:r>
              <a:rPr sz="1800" b="1" spc="-35" dirty="0">
                <a:latin typeface="Trebuchet MS"/>
                <a:cs typeface="Trebuchet MS"/>
              </a:rPr>
              <a:t>d</a:t>
            </a:r>
            <a:r>
              <a:rPr sz="1800" b="1" spc="-100" dirty="0">
                <a:latin typeface="Trebuchet MS"/>
                <a:cs typeface="Trebuchet MS"/>
              </a:rPr>
              <a:t> </a:t>
            </a:r>
            <a:r>
              <a:rPr sz="1800" b="1" spc="-5" dirty="0">
                <a:latin typeface="Trebuchet MS"/>
                <a:cs typeface="Trebuchet MS"/>
              </a:rPr>
              <a:t>Companies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6125" y="1317580"/>
            <a:ext cx="195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rebuchet MS"/>
                <a:cs typeface="Trebuchet MS"/>
              </a:rPr>
              <a:t>Comme</a:t>
            </a:r>
            <a:r>
              <a:rPr sz="1800" b="1" spc="-30" dirty="0">
                <a:latin typeface="Trebuchet MS"/>
                <a:cs typeface="Trebuchet MS"/>
              </a:rPr>
              <a:t>rcia</a:t>
            </a:r>
            <a:r>
              <a:rPr sz="1800" b="1" spc="-20" dirty="0">
                <a:latin typeface="Trebuchet MS"/>
                <a:cs typeface="Trebuchet MS"/>
              </a:rPr>
              <a:t>l</a:t>
            </a:r>
            <a:r>
              <a:rPr sz="1800" b="1" spc="-100" dirty="0">
                <a:latin typeface="Trebuchet MS"/>
                <a:cs typeface="Trebuchet MS"/>
              </a:rPr>
              <a:t> </a:t>
            </a:r>
            <a:r>
              <a:rPr sz="1800" b="1" spc="25" dirty="0">
                <a:latin typeface="Trebuchet MS"/>
                <a:cs typeface="Trebuchet MS"/>
              </a:rPr>
              <a:t>Banks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0724" y="2026950"/>
            <a:ext cx="4100625" cy="24056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475" y="1910004"/>
            <a:ext cx="3115024" cy="25645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6225" y="4751679"/>
            <a:ext cx="2060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5" dirty="0">
                <a:latin typeface="Trebuchet MS"/>
                <a:cs typeface="Trebuchet MS"/>
              </a:rPr>
              <a:t>*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15" dirty="0">
                <a:latin typeface="Trebuchet MS"/>
                <a:cs typeface="Trebuchet MS"/>
              </a:rPr>
              <a:t>Imag</a:t>
            </a:r>
            <a:r>
              <a:rPr sz="1200" spc="20" dirty="0">
                <a:latin typeface="Trebuchet MS"/>
                <a:cs typeface="Trebuchet MS"/>
              </a:rPr>
              <a:t>e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25" dirty="0">
                <a:latin typeface="Trebuchet MS"/>
                <a:cs typeface="Trebuchet MS"/>
              </a:rPr>
              <a:t>sou</a:t>
            </a:r>
            <a:r>
              <a:rPr sz="1200" spc="5" dirty="0">
                <a:latin typeface="Trebuchet MS"/>
                <a:cs typeface="Trebuchet MS"/>
              </a:rPr>
              <a:t>r</a:t>
            </a:r>
            <a:r>
              <a:rPr sz="1200" spc="-55" dirty="0">
                <a:latin typeface="Trebuchet MS"/>
                <a:cs typeface="Trebuchet MS"/>
              </a:rPr>
              <a:t>ce</a:t>
            </a:r>
            <a:r>
              <a:rPr sz="1200" spc="-40" dirty="0">
                <a:latin typeface="Trebuchet MS"/>
                <a:cs typeface="Trebuchet MS"/>
              </a:rPr>
              <a:t>: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5" dirty="0">
                <a:latin typeface="Trebuchet MS"/>
                <a:cs typeface="Trebuchet MS"/>
              </a:rPr>
              <a:t>Googl</a:t>
            </a:r>
            <a:r>
              <a:rPr sz="1200" spc="10" dirty="0">
                <a:latin typeface="Trebuchet MS"/>
                <a:cs typeface="Trebuchet MS"/>
              </a:rPr>
              <a:t>e</a:t>
            </a:r>
            <a:r>
              <a:rPr sz="1200" spc="-7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image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9420" y="4754010"/>
            <a:ext cx="97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5" dirty="0">
                <a:solidFill>
                  <a:srgbClr val="434343"/>
                </a:solidFill>
                <a:latin typeface="Trebuchet MS"/>
                <a:cs typeface="Trebuchet MS"/>
              </a:rPr>
              <a:t>3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2950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Approach</a:t>
            </a:r>
            <a:r>
              <a:rPr spc="-215" dirty="0"/>
              <a:t> </a:t>
            </a:r>
            <a:r>
              <a:rPr spc="-5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432350" y="1304875"/>
            <a:ext cx="2469515" cy="608330"/>
          </a:xfrm>
          <a:custGeom>
            <a:avLst/>
            <a:gdLst/>
            <a:ahLst/>
            <a:cxnLst/>
            <a:rect l="l" t="t" r="r" b="b"/>
            <a:pathLst>
              <a:path w="2469515" h="608330">
                <a:moveTo>
                  <a:pt x="2165399" y="607799"/>
                </a:moveTo>
                <a:lnTo>
                  <a:pt x="0" y="607799"/>
                </a:lnTo>
                <a:lnTo>
                  <a:pt x="0" y="0"/>
                </a:lnTo>
                <a:lnTo>
                  <a:pt x="2165399" y="0"/>
                </a:lnTo>
                <a:lnTo>
                  <a:pt x="2469299" y="303899"/>
                </a:lnTo>
                <a:lnTo>
                  <a:pt x="2165399" y="6077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5375" y="1448819"/>
            <a:ext cx="143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Dat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Cleaning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375" y="2135472"/>
            <a:ext cx="20383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35" dirty="0">
                <a:solidFill>
                  <a:srgbClr val="434343"/>
                </a:solidFill>
                <a:latin typeface="Trebuchet MS"/>
                <a:cs typeface="Trebuchet MS"/>
              </a:rPr>
              <a:t>Understand</a:t>
            </a:r>
            <a:r>
              <a:rPr sz="1600" b="1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434343"/>
                </a:solidFill>
                <a:latin typeface="Trebuchet MS"/>
                <a:cs typeface="Trebuchet MS"/>
              </a:rPr>
              <a:t>an</a:t>
            </a:r>
            <a:r>
              <a:rPr sz="1600" b="1" spc="-25" dirty="0">
                <a:solidFill>
                  <a:srgbClr val="434343"/>
                </a:solidFill>
                <a:latin typeface="Trebuchet MS"/>
                <a:cs typeface="Trebuchet MS"/>
              </a:rPr>
              <a:t>d</a:t>
            </a:r>
            <a:r>
              <a:rPr sz="1600" b="1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434343"/>
                </a:solidFill>
                <a:latin typeface="Trebuchet MS"/>
                <a:cs typeface="Trebuchet MS"/>
              </a:rPr>
              <a:t>Clean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271" y="2484087"/>
            <a:ext cx="2138045" cy="140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33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solidFill>
                  <a:srgbClr val="434343"/>
                </a:solidFill>
                <a:latin typeface="Trebuchet MS"/>
                <a:cs typeface="Trebuchet MS"/>
              </a:rPr>
              <a:t>Fin</a:t>
            </a:r>
            <a:r>
              <a:rPr sz="1600" spc="-5" dirty="0">
                <a:solidFill>
                  <a:srgbClr val="434343"/>
                </a:solidFill>
                <a:latin typeface="Trebuchet MS"/>
                <a:cs typeface="Trebuchet MS"/>
              </a:rPr>
              <a:t>d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34343"/>
                </a:solidFill>
                <a:latin typeface="Trebuchet MS"/>
                <a:cs typeface="Trebuchet MS"/>
              </a:rPr>
              <a:t>informatio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n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15" dirty="0">
                <a:solidFill>
                  <a:srgbClr val="434343"/>
                </a:solidFill>
                <a:latin typeface="Trebuchet MS"/>
                <a:cs typeface="Trebuchet MS"/>
              </a:rPr>
              <a:t>on  </a:t>
            </a:r>
            <a:r>
              <a:rPr sz="1600" dirty="0">
                <a:solidFill>
                  <a:srgbClr val="434343"/>
                </a:solidFill>
                <a:latin typeface="Trebuchet MS"/>
                <a:cs typeface="Trebuchet MS"/>
              </a:rPr>
              <a:t>undocumented </a:t>
            </a:r>
            <a:r>
              <a:rPr sz="1600" spc="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35" dirty="0">
                <a:solidFill>
                  <a:srgbClr val="434343"/>
                </a:solidFill>
                <a:latin typeface="Trebuchet MS"/>
                <a:cs typeface="Trebuchet MS"/>
              </a:rPr>
              <a:t>columns</a:t>
            </a:r>
            <a:r>
              <a:rPr sz="1600" spc="-10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5" dirty="0">
                <a:solidFill>
                  <a:srgbClr val="434343"/>
                </a:solidFill>
                <a:latin typeface="Trebuchet MS"/>
                <a:cs typeface="Trebuchet MS"/>
              </a:rPr>
              <a:t>values</a:t>
            </a:r>
            <a:endParaRPr sz="1600">
              <a:latin typeface="Trebuchet MS"/>
              <a:cs typeface="Trebuchet MS"/>
            </a:endParaRPr>
          </a:p>
          <a:p>
            <a:pPr marL="363855" marR="71120" indent="-351790">
              <a:lnSpc>
                <a:spcPct val="1133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434343"/>
                </a:solidFill>
                <a:latin typeface="Trebuchet MS"/>
                <a:cs typeface="Trebuchet MS"/>
              </a:rPr>
              <a:t>Clea</a:t>
            </a:r>
            <a:r>
              <a:rPr sz="1600" dirty="0">
                <a:solidFill>
                  <a:srgbClr val="434343"/>
                </a:solidFill>
                <a:latin typeface="Trebuchet MS"/>
                <a:cs typeface="Trebuchet MS"/>
              </a:rPr>
              <a:t>n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34343"/>
                </a:solidFill>
                <a:latin typeface="Trebuchet MS"/>
                <a:cs typeface="Trebuchet MS"/>
              </a:rPr>
              <a:t>dat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a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135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600" spc="50" dirty="0">
                <a:solidFill>
                  <a:srgbClr val="434343"/>
                </a:solidFill>
                <a:latin typeface="Trebuchet MS"/>
                <a:cs typeface="Trebuchet MS"/>
              </a:rPr>
              <a:t>o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34343"/>
                </a:solidFill>
                <a:latin typeface="Trebuchet MS"/>
                <a:cs typeface="Trebuchet MS"/>
              </a:rPr>
              <a:t>ge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it  </a:t>
            </a:r>
            <a:r>
              <a:rPr sz="1600" spc="-10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600" spc="-10" dirty="0">
                <a:solidFill>
                  <a:srgbClr val="434343"/>
                </a:solidFill>
                <a:latin typeface="Trebuchet MS"/>
                <a:cs typeface="Trebuchet MS"/>
              </a:rPr>
              <a:t>ead</a:t>
            </a:r>
            <a:r>
              <a:rPr sz="1600" spc="-5" dirty="0">
                <a:solidFill>
                  <a:srgbClr val="434343"/>
                </a:solidFill>
                <a:latin typeface="Trebuchet MS"/>
                <a:cs typeface="Trebuchet MS"/>
              </a:rPr>
              <a:t>y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434343"/>
                </a:solidFill>
                <a:latin typeface="Trebuchet MS"/>
                <a:cs typeface="Trebuchet MS"/>
              </a:rPr>
              <a:t>fo</a:t>
            </a:r>
            <a:r>
              <a:rPr sz="1600" spc="-2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20" dirty="0">
                <a:solidFill>
                  <a:srgbClr val="434343"/>
                </a:solidFill>
                <a:latin typeface="Trebuchet MS"/>
                <a:cs typeface="Trebuchet MS"/>
              </a:rPr>
              <a:t>analysis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4776" y="1304875"/>
            <a:ext cx="2760980" cy="608330"/>
          </a:xfrm>
          <a:custGeom>
            <a:avLst/>
            <a:gdLst/>
            <a:ahLst/>
            <a:cxnLst/>
            <a:rect l="l" t="t" r="r" b="b"/>
            <a:pathLst>
              <a:path w="2760979" h="608330">
                <a:moveTo>
                  <a:pt x="2456699" y="607799"/>
                </a:moveTo>
                <a:lnTo>
                  <a:pt x="0" y="607799"/>
                </a:lnTo>
                <a:lnTo>
                  <a:pt x="303899" y="303899"/>
                </a:lnTo>
                <a:lnTo>
                  <a:pt x="0" y="0"/>
                </a:lnTo>
                <a:lnTo>
                  <a:pt x="2456699" y="0"/>
                </a:lnTo>
                <a:lnTo>
                  <a:pt x="2760599" y="303899"/>
                </a:lnTo>
                <a:lnTo>
                  <a:pt x="2456699" y="6077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09175" y="1448819"/>
            <a:ext cx="1693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Dat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Explo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9171" y="2135472"/>
            <a:ext cx="22523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60" dirty="0">
                <a:solidFill>
                  <a:srgbClr val="434343"/>
                </a:solidFill>
                <a:latin typeface="Trebuchet MS"/>
                <a:cs typeface="Trebuchet MS"/>
              </a:rPr>
              <a:t>Gr</a:t>
            </a:r>
            <a:r>
              <a:rPr sz="1600" b="1" spc="-30" dirty="0">
                <a:solidFill>
                  <a:srgbClr val="434343"/>
                </a:solidFill>
                <a:latin typeface="Trebuchet MS"/>
                <a:cs typeface="Trebuchet MS"/>
              </a:rPr>
              <a:t>aphica</a:t>
            </a:r>
            <a:r>
              <a:rPr sz="1600" b="1" spc="-15" dirty="0">
                <a:solidFill>
                  <a:srgbClr val="434343"/>
                </a:solidFill>
                <a:latin typeface="Trebuchet MS"/>
                <a:cs typeface="Trebuchet MS"/>
              </a:rPr>
              <a:t>l</a:t>
            </a:r>
            <a:r>
              <a:rPr sz="1600" b="1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434343"/>
                </a:solidFill>
                <a:latin typeface="Trebuchet MS"/>
                <a:cs typeface="Trebuchet MS"/>
              </a:rPr>
              <a:t>an</a:t>
            </a:r>
            <a:r>
              <a:rPr sz="1600" b="1" spc="-25" dirty="0">
                <a:solidFill>
                  <a:srgbClr val="434343"/>
                </a:solidFill>
                <a:latin typeface="Trebuchet MS"/>
                <a:cs typeface="Trebuchet MS"/>
              </a:rPr>
              <a:t>d</a:t>
            </a:r>
            <a:r>
              <a:rPr sz="1600" b="1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b="1" spc="-15" dirty="0">
                <a:solidFill>
                  <a:srgbClr val="434343"/>
                </a:solidFill>
                <a:latin typeface="Trebuchet MS"/>
                <a:cs typeface="Trebuchet MS"/>
              </a:rPr>
              <a:t>Statistical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5068" y="2484087"/>
            <a:ext cx="209042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333375" indent="-351790">
              <a:lnSpc>
                <a:spcPct val="1133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25" dirty="0">
                <a:solidFill>
                  <a:srgbClr val="434343"/>
                </a:solidFill>
                <a:latin typeface="Trebuchet MS"/>
                <a:cs typeface="Trebuchet MS"/>
              </a:rPr>
              <a:t>Exa</a:t>
            </a:r>
            <a:r>
              <a:rPr sz="1600" spc="50" dirty="0">
                <a:solidFill>
                  <a:srgbClr val="434343"/>
                </a:solidFill>
                <a:latin typeface="Trebuchet MS"/>
                <a:cs typeface="Trebuchet MS"/>
              </a:rPr>
              <a:t>m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34343"/>
                </a:solidFill>
                <a:latin typeface="Trebuchet MS"/>
                <a:cs typeface="Trebuchet MS"/>
              </a:rPr>
              <a:t>dat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a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Trebuchet MS"/>
                <a:cs typeface="Trebuchet MS"/>
              </a:rPr>
              <a:t>with  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visualization</a:t>
            </a:r>
            <a:endParaRPr sz="1600">
              <a:latin typeface="Trebuchet MS"/>
              <a:cs typeface="Trebuchet MS"/>
            </a:endParaRPr>
          </a:p>
          <a:p>
            <a:pPr marL="363855" marR="5080" indent="-351790">
              <a:lnSpc>
                <a:spcPct val="1133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40" dirty="0">
                <a:solidFill>
                  <a:srgbClr val="434343"/>
                </a:solidFill>
                <a:latin typeface="Trebuchet MS"/>
                <a:cs typeface="Trebuchet MS"/>
              </a:rPr>
              <a:t>V</a:t>
            </a:r>
            <a:r>
              <a:rPr sz="1600" spc="-55" dirty="0">
                <a:solidFill>
                  <a:srgbClr val="434343"/>
                </a:solidFill>
                <a:latin typeface="Trebuchet MS"/>
                <a:cs typeface="Trebuchet MS"/>
              </a:rPr>
              <a:t>erif</a:t>
            </a:r>
            <a:r>
              <a:rPr sz="1600" spc="-60" dirty="0">
                <a:solidFill>
                  <a:srgbClr val="434343"/>
                </a:solidFill>
                <a:latin typeface="Trebuchet MS"/>
                <a:cs typeface="Trebuchet MS"/>
              </a:rPr>
              <a:t>y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20" dirty="0">
                <a:solidFill>
                  <a:srgbClr val="434343"/>
                </a:solidFill>
                <a:latin typeface="Trebuchet MS"/>
                <a:cs typeface="Trebuchet MS"/>
              </a:rPr>
              <a:t>ﬁndings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434343"/>
                </a:solidFill>
                <a:latin typeface="Trebuchet MS"/>
                <a:cs typeface="Trebuchet MS"/>
              </a:rPr>
              <a:t>with  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statistical</a:t>
            </a:r>
            <a:r>
              <a:rPr sz="1600" spc="-10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15" dirty="0">
                <a:solidFill>
                  <a:srgbClr val="434343"/>
                </a:solidFill>
                <a:latin typeface="Trebuchet MS"/>
                <a:cs typeface="Trebuchet MS"/>
              </a:rPr>
              <a:t>tests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48501" y="1304875"/>
            <a:ext cx="2760980" cy="608330"/>
          </a:xfrm>
          <a:custGeom>
            <a:avLst/>
            <a:gdLst/>
            <a:ahLst/>
            <a:cxnLst/>
            <a:rect l="l" t="t" r="r" b="b"/>
            <a:pathLst>
              <a:path w="2760979" h="608330">
                <a:moveTo>
                  <a:pt x="2456699" y="607799"/>
                </a:moveTo>
                <a:lnTo>
                  <a:pt x="0" y="607799"/>
                </a:lnTo>
                <a:lnTo>
                  <a:pt x="303899" y="303899"/>
                </a:lnTo>
                <a:lnTo>
                  <a:pt x="0" y="0"/>
                </a:lnTo>
                <a:lnTo>
                  <a:pt x="2456699" y="0"/>
                </a:lnTo>
                <a:lnTo>
                  <a:pt x="2760599" y="303899"/>
                </a:lnTo>
                <a:lnTo>
                  <a:pt x="2456699" y="6077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27257" y="1448819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edicti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Modeling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7251" y="2135472"/>
            <a:ext cx="16573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434343"/>
                </a:solidFill>
                <a:latin typeface="Trebuchet MS"/>
                <a:cs typeface="Trebuchet MS"/>
              </a:rPr>
              <a:t>Machin</a:t>
            </a:r>
            <a:r>
              <a:rPr sz="1600" b="1" dirty="0">
                <a:solidFill>
                  <a:srgbClr val="434343"/>
                </a:solidFill>
                <a:latin typeface="Trebuchet MS"/>
                <a:cs typeface="Trebuchet MS"/>
              </a:rPr>
              <a:t>e</a:t>
            </a:r>
            <a:r>
              <a:rPr sz="1600" b="1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434343"/>
                </a:solidFill>
                <a:latin typeface="Trebuchet MS"/>
                <a:cs typeface="Trebuchet MS"/>
              </a:rPr>
              <a:t>Learning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3147" y="2484087"/>
            <a:ext cx="2148840" cy="1999906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355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15" dirty="0">
                <a:solidFill>
                  <a:srgbClr val="434343"/>
                </a:solidFill>
                <a:latin typeface="Trebuchet MS"/>
                <a:cs typeface="Trebuchet MS"/>
              </a:rPr>
              <a:t>Logisti</a:t>
            </a:r>
            <a:r>
              <a:rPr sz="1600" spc="25" dirty="0">
                <a:solidFill>
                  <a:srgbClr val="434343"/>
                </a:solidFill>
                <a:latin typeface="Trebuchet MS"/>
                <a:cs typeface="Trebuchet MS"/>
              </a:rPr>
              <a:t>c</a:t>
            </a:r>
            <a:r>
              <a:rPr sz="1600" spc="-9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spc="5" dirty="0">
                <a:solidFill>
                  <a:srgbClr val="434343"/>
                </a:solidFill>
                <a:latin typeface="Trebuchet MS"/>
                <a:cs typeface="Trebuchet MS"/>
              </a:rPr>
              <a:t>Reg</a:t>
            </a:r>
            <a:r>
              <a:rPr sz="1600" spc="-15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600" spc="45" dirty="0">
                <a:solidFill>
                  <a:srgbClr val="434343"/>
                </a:solidFill>
                <a:latin typeface="Trebuchet MS"/>
                <a:cs typeface="Trebuchet MS"/>
              </a:rPr>
              <a:t>ession</a:t>
            </a:r>
            <a:endParaRPr sz="1600">
              <a:latin typeface="Trebuchet MS"/>
              <a:cs typeface="Trebuchet M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30" dirty="0">
                <a:solidFill>
                  <a:srgbClr val="434343"/>
                </a:solidFill>
                <a:latin typeface="Trebuchet MS"/>
                <a:cs typeface="Trebuchet MS"/>
              </a:rPr>
              <a:t>Random</a:t>
            </a:r>
            <a:r>
              <a:rPr sz="1600" spc="-12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34343"/>
                </a:solidFill>
                <a:latin typeface="Trebuchet MS"/>
                <a:cs typeface="Trebuchet MS"/>
              </a:rPr>
              <a:t>Forest</a:t>
            </a:r>
            <a:endParaRPr sz="1600">
              <a:latin typeface="Trebuchet MS"/>
              <a:cs typeface="Trebuchet M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lang="en-US" sz="1600" dirty="0" smtClean="0">
                <a:latin typeface="Trebuchet MS"/>
                <a:cs typeface="Trebuchet MS"/>
              </a:rPr>
              <a:t>SVM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lang="en-US" sz="1600" dirty="0" smtClean="0">
                <a:latin typeface="Trebuchet MS"/>
                <a:cs typeface="Trebuchet MS"/>
              </a:rPr>
              <a:t>Decision Tree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lang="en-US" sz="1600" dirty="0" smtClean="0">
                <a:latin typeface="Trebuchet MS"/>
                <a:cs typeface="Trebuchet MS"/>
              </a:rPr>
              <a:t>KNN</a:t>
            </a: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lang="en-US" sz="1600" dirty="0" smtClean="0">
                <a:latin typeface="Trebuchet MS"/>
                <a:cs typeface="Trebuchet MS"/>
              </a:rPr>
              <a:t>Naïve-</a:t>
            </a:r>
            <a:r>
              <a:rPr lang="en-US" sz="1600" dirty="0" err="1" smtClean="0">
                <a:latin typeface="Trebuchet MS"/>
                <a:cs typeface="Trebuchet MS"/>
              </a:rPr>
              <a:t>Bayes</a:t>
            </a:r>
            <a:endParaRPr lang="en-US" sz="1600" dirty="0" smtClean="0">
              <a:latin typeface="Trebuchet MS"/>
              <a:cs typeface="Trebuchet MS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39420" y="4754010"/>
            <a:ext cx="97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5" dirty="0">
                <a:solidFill>
                  <a:srgbClr val="434343"/>
                </a:solidFill>
                <a:latin typeface="Trebuchet MS"/>
                <a:cs typeface="Trebuchet MS"/>
              </a:rPr>
              <a:t>4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2805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</a:t>
            </a:r>
            <a:r>
              <a:rPr spc="5" dirty="0"/>
              <a:t>a</a:t>
            </a:r>
            <a:r>
              <a:rPr spc="-170" dirty="0"/>
              <a:t> </a:t>
            </a:r>
            <a:r>
              <a:rPr spc="10" dirty="0"/>
              <a:t>Acquisition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39417" y="4754020"/>
            <a:ext cx="97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5" dirty="0">
                <a:solidFill>
                  <a:srgbClr val="434343"/>
                </a:solidFill>
                <a:latin typeface="Trebuchet MS"/>
                <a:cs typeface="Trebuchet MS"/>
              </a:rPr>
              <a:t>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7755" y="1304875"/>
            <a:ext cx="3784600" cy="3416935"/>
          </a:xfrm>
          <a:custGeom>
            <a:avLst/>
            <a:gdLst/>
            <a:ahLst/>
            <a:cxnLst/>
            <a:rect l="l" t="t" r="r" b="b"/>
            <a:pathLst>
              <a:path w="3784600" h="3416935">
                <a:moveTo>
                  <a:pt x="0" y="0"/>
                </a:moveTo>
                <a:lnTo>
                  <a:pt x="3784038" y="0"/>
                </a:lnTo>
                <a:lnTo>
                  <a:pt x="3784038" y="3416399"/>
                </a:lnTo>
                <a:lnTo>
                  <a:pt x="0" y="3416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A38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32517" y="1304875"/>
            <a:ext cx="3775075" cy="464184"/>
          </a:xfrm>
          <a:prstGeom prst="rect">
            <a:avLst/>
          </a:prstGeom>
          <a:solidFill>
            <a:srgbClr val="2A389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00"/>
              </a:spcBef>
            </a:pP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Why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Trebuchet MS"/>
                <a:cs typeface="Trebuchet MS"/>
              </a:rPr>
              <a:t>Dataset?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2517" y="1839531"/>
            <a:ext cx="3775075" cy="209232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575945" indent="-359410">
              <a:lnSpc>
                <a:spcPct val="100000"/>
              </a:lnSpc>
              <a:spcBef>
                <a:spcPts val="384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-15" dirty="0">
                <a:latin typeface="Trebuchet MS"/>
                <a:cs typeface="Trebuchet MS"/>
              </a:rPr>
              <a:t>Rea</a:t>
            </a:r>
            <a:r>
              <a:rPr sz="1700" spc="-5" dirty="0">
                <a:latin typeface="Trebuchet MS"/>
                <a:cs typeface="Trebuchet MS"/>
              </a:rPr>
              <a:t>l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c</a:t>
            </a:r>
            <a:r>
              <a:rPr sz="1700" spc="-40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edi</a:t>
            </a:r>
            <a:r>
              <a:rPr sz="1700" spc="-5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ca</a:t>
            </a:r>
            <a:r>
              <a:rPr sz="1700" spc="-25" dirty="0">
                <a:latin typeface="Trebuchet MS"/>
                <a:cs typeface="Trebuchet MS"/>
              </a:rPr>
              <a:t>r</a:t>
            </a:r>
            <a:r>
              <a:rPr sz="1700" spc="10" dirty="0">
                <a:latin typeface="Trebuchet MS"/>
                <a:cs typeface="Trebuchet MS"/>
              </a:rPr>
              <a:t>d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data</a:t>
            </a:r>
            <a:endParaRPr sz="1700">
              <a:latin typeface="Trebuchet MS"/>
              <a:cs typeface="Trebuchet MS"/>
            </a:endParaRPr>
          </a:p>
          <a:p>
            <a:pPr marL="575945" indent="-359410">
              <a:lnSpc>
                <a:spcPct val="100000"/>
              </a:lnSpc>
              <a:spcBef>
                <a:spcPts val="284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5" dirty="0">
                <a:latin typeface="Trebuchet MS"/>
                <a:cs typeface="Trebuchet MS"/>
              </a:rPr>
              <a:t>Comprehensive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10" dirty="0">
                <a:latin typeface="Trebuchet MS"/>
                <a:cs typeface="Trebuchet MS"/>
              </a:rPr>
              <a:t>and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15" dirty="0">
                <a:latin typeface="Trebuchet MS"/>
                <a:cs typeface="Trebuchet MS"/>
              </a:rPr>
              <a:t>complete</a:t>
            </a:r>
            <a:endParaRPr sz="1700">
              <a:latin typeface="Trebuchet MS"/>
              <a:cs typeface="Trebuchet MS"/>
            </a:endParaRPr>
          </a:p>
          <a:p>
            <a:pPr marL="575945" indent="-359410">
              <a:lnSpc>
                <a:spcPct val="100000"/>
              </a:lnSpc>
              <a:spcBef>
                <a:spcPts val="284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-5" dirty="0">
                <a:latin typeface="Trebuchet MS"/>
                <a:cs typeface="Trebuchet MS"/>
              </a:rPr>
              <a:t>30,00</a:t>
            </a:r>
            <a:r>
              <a:rPr sz="1700" dirty="0">
                <a:latin typeface="Trebuchet MS"/>
                <a:cs typeface="Trebuchet MS"/>
              </a:rPr>
              <a:t>0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25" dirty="0">
                <a:latin typeface="Trebuchet MS"/>
                <a:cs typeface="Trebuchet MS"/>
              </a:rPr>
              <a:t>cus</a:t>
            </a:r>
            <a:r>
              <a:rPr sz="1700" spc="5" dirty="0">
                <a:latin typeface="Trebuchet MS"/>
                <a:cs typeface="Trebuchet MS"/>
              </a:rPr>
              <a:t>t</a:t>
            </a:r>
            <a:r>
              <a:rPr sz="1700" spc="35" dirty="0">
                <a:latin typeface="Trebuchet MS"/>
                <a:cs typeface="Trebuchet MS"/>
              </a:rPr>
              <a:t>omers</a:t>
            </a:r>
            <a:endParaRPr sz="1700">
              <a:latin typeface="Trebuchet MS"/>
              <a:cs typeface="Trebuchet MS"/>
            </a:endParaRPr>
          </a:p>
          <a:p>
            <a:pPr marL="575945" indent="-359410">
              <a:lnSpc>
                <a:spcPct val="100000"/>
              </a:lnSpc>
              <a:spcBef>
                <a:spcPts val="284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50" dirty="0">
                <a:latin typeface="Trebuchet MS"/>
                <a:cs typeface="Trebuchet MS"/>
              </a:rPr>
              <a:t>Usage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5" dirty="0">
                <a:latin typeface="Trebuchet MS"/>
                <a:cs typeface="Trebuchet MS"/>
              </a:rPr>
              <a:t>of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60" dirty="0">
                <a:latin typeface="Trebuchet MS"/>
                <a:cs typeface="Trebuchet MS"/>
              </a:rPr>
              <a:t>6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30" dirty="0">
                <a:latin typeface="Trebuchet MS"/>
                <a:cs typeface="Trebuchet MS"/>
              </a:rPr>
              <a:t>months</a:t>
            </a:r>
            <a:endParaRPr sz="1700">
              <a:latin typeface="Trebuchet MS"/>
              <a:cs typeface="Trebuchet MS"/>
            </a:endParaRPr>
          </a:p>
          <a:p>
            <a:pPr marL="575945" indent="-359410">
              <a:lnSpc>
                <a:spcPct val="100000"/>
              </a:lnSpc>
              <a:spcBef>
                <a:spcPts val="284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55" dirty="0">
                <a:latin typeface="Trebuchet MS"/>
                <a:cs typeface="Trebuchet MS"/>
              </a:rPr>
              <a:t>Age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from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10" dirty="0">
                <a:latin typeface="Trebuchet MS"/>
                <a:cs typeface="Trebuchet MS"/>
              </a:rPr>
              <a:t>20-79</a:t>
            </a:r>
            <a:endParaRPr sz="1700">
              <a:latin typeface="Trebuchet MS"/>
              <a:cs typeface="Trebuchet MS"/>
            </a:endParaRPr>
          </a:p>
          <a:p>
            <a:pPr marL="575945" indent="-359410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10" dirty="0">
                <a:latin typeface="Trebuchet MS"/>
                <a:cs typeface="Trebuchet MS"/>
              </a:rPr>
              <a:t>Demographic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factors</a:t>
            </a:r>
            <a:endParaRPr sz="1700">
              <a:latin typeface="Trebuchet MS"/>
              <a:cs typeface="Trebuchet MS"/>
            </a:endParaRPr>
          </a:p>
          <a:p>
            <a:pPr marL="575945" indent="-359410">
              <a:lnSpc>
                <a:spcPct val="100000"/>
              </a:lnSpc>
              <a:spcBef>
                <a:spcPts val="285"/>
              </a:spcBef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700" spc="95" dirty="0">
                <a:latin typeface="Trebuchet MS"/>
                <a:cs typeface="Trebuchet MS"/>
              </a:rPr>
              <a:t>N</a:t>
            </a:r>
            <a:r>
              <a:rPr sz="1700" spc="80" dirty="0">
                <a:latin typeface="Trebuchet MS"/>
                <a:cs typeface="Trebuchet MS"/>
              </a:rPr>
              <a:t>o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c</a:t>
            </a:r>
            <a:r>
              <a:rPr sz="1700" spc="-40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edi</a:t>
            </a:r>
            <a:r>
              <a:rPr sz="1700" spc="-5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45" dirty="0">
                <a:latin typeface="Trebuchet MS"/>
                <a:cs typeface="Trebuchet MS"/>
              </a:rPr>
              <a:t>sco</a:t>
            </a:r>
            <a:r>
              <a:rPr sz="1700" spc="20" dirty="0">
                <a:latin typeface="Trebuchet MS"/>
                <a:cs typeface="Trebuchet MS"/>
              </a:rPr>
              <a:t>r</a:t>
            </a:r>
            <a:r>
              <a:rPr sz="1700" spc="-30" dirty="0">
                <a:latin typeface="Trebuchet MS"/>
                <a:cs typeface="Trebuchet MS"/>
              </a:rPr>
              <a:t>e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o</a:t>
            </a:r>
            <a:r>
              <a:rPr sz="1700" spc="-15" dirty="0">
                <a:latin typeface="Trebuchet MS"/>
                <a:cs typeface="Trebuchet MS"/>
              </a:rPr>
              <a:t>r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c</a:t>
            </a:r>
            <a:r>
              <a:rPr sz="1700" spc="-40" dirty="0">
                <a:latin typeface="Trebuchet MS"/>
                <a:cs typeface="Trebuchet MS"/>
              </a:rPr>
              <a:t>r</a:t>
            </a:r>
            <a:r>
              <a:rPr sz="1700" spc="-60" dirty="0">
                <a:latin typeface="Trebuchet MS"/>
                <a:cs typeface="Trebuchet MS"/>
              </a:rPr>
              <a:t>edi</a:t>
            </a:r>
            <a:r>
              <a:rPr sz="1700" spc="-5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his</a:t>
            </a:r>
            <a:r>
              <a:rPr sz="1700" spc="-20" dirty="0">
                <a:latin typeface="Trebuchet MS"/>
                <a:cs typeface="Trebuchet MS"/>
              </a:rPr>
              <a:t>t</a:t>
            </a:r>
            <a:r>
              <a:rPr sz="1700" spc="-25" dirty="0">
                <a:latin typeface="Trebuchet MS"/>
                <a:cs typeface="Trebuchet MS"/>
              </a:rPr>
              <a:t>o</a:t>
            </a:r>
            <a:r>
              <a:rPr sz="1700" spc="-5" dirty="0">
                <a:latin typeface="Trebuchet MS"/>
                <a:cs typeface="Trebuchet MS"/>
              </a:rPr>
              <a:t>r</a:t>
            </a:r>
            <a:r>
              <a:rPr sz="1700" spc="-35" dirty="0">
                <a:latin typeface="Trebuchet MS"/>
                <a:cs typeface="Trebuchet MS"/>
              </a:rPr>
              <a:t>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902" y="4759798"/>
            <a:ext cx="75025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*Lichman,</a:t>
            </a:r>
            <a:r>
              <a:rPr sz="800" dirty="0">
                <a:latin typeface="Arial"/>
                <a:cs typeface="Arial"/>
              </a:rPr>
              <a:t> M. (2013). </a:t>
            </a:r>
            <a:r>
              <a:rPr sz="800" spc="-5" dirty="0">
                <a:latin typeface="Arial"/>
                <a:cs typeface="Arial"/>
              </a:rPr>
              <a:t>UCI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Machine </a:t>
            </a:r>
            <a:r>
              <a:rPr sz="800" spc="-5" dirty="0">
                <a:latin typeface="Arial"/>
                <a:cs typeface="Arial"/>
              </a:rPr>
              <a:t>Learning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Repository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[</a:t>
            </a:r>
            <a:r>
              <a:rPr sz="800" u="sng" spc="-10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/>
                <a:cs typeface="Arial"/>
                <a:hlinkClick r:id="rId2"/>
              </a:rPr>
              <a:t>http://archive.ics.uci.edu/ml]</a:t>
            </a:r>
            <a:r>
              <a:rPr sz="800" spc="-10" dirty="0">
                <a:latin typeface="Arial"/>
                <a:cs typeface="Arial"/>
              </a:rPr>
              <a:t>.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Irvine,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CA: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University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of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California,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School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of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Information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and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Computer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Science.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9555" y="1304875"/>
            <a:ext cx="3784600" cy="3416935"/>
          </a:xfrm>
          <a:custGeom>
            <a:avLst/>
            <a:gdLst/>
            <a:ahLst/>
            <a:cxnLst/>
            <a:rect l="l" t="t" r="r" b="b"/>
            <a:pathLst>
              <a:path w="3784600" h="3416935">
                <a:moveTo>
                  <a:pt x="0" y="0"/>
                </a:moveTo>
                <a:lnTo>
                  <a:pt x="3784038" y="0"/>
                </a:lnTo>
                <a:lnTo>
                  <a:pt x="3784038" y="3416399"/>
                </a:lnTo>
                <a:lnTo>
                  <a:pt x="0" y="3416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A38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4317" y="1304875"/>
            <a:ext cx="3775075" cy="464184"/>
          </a:xfrm>
          <a:prstGeom prst="rect">
            <a:avLst/>
          </a:prstGeom>
          <a:solidFill>
            <a:srgbClr val="2A389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Dataset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317" y="1839531"/>
            <a:ext cx="3775075" cy="205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945" marR="560705" indent="-359410" algn="just">
              <a:lnSpc>
                <a:spcPct val="113999"/>
              </a:lnSpc>
              <a:spcBef>
                <a:spcPts val="100"/>
              </a:spcBef>
              <a:buFont typeface="Arial"/>
              <a:buChar char="●"/>
              <a:tabLst>
                <a:tab pos="576580" algn="l"/>
              </a:tabLst>
            </a:pPr>
            <a:r>
              <a:rPr sz="1700" spc="-30" dirty="0">
                <a:latin typeface="Trebuchet MS"/>
                <a:cs typeface="Trebuchet MS"/>
              </a:rPr>
              <a:t>Defaul</a:t>
            </a:r>
            <a:r>
              <a:rPr sz="1700" spc="-20" dirty="0">
                <a:latin typeface="Trebuchet MS"/>
                <a:cs typeface="Trebuchet MS"/>
              </a:rPr>
              <a:t>t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110" dirty="0">
                <a:latin typeface="Trebuchet MS"/>
                <a:cs typeface="Trebuchet MS"/>
              </a:rPr>
              <a:t>P</a:t>
            </a:r>
            <a:r>
              <a:rPr sz="1700" spc="15" dirty="0">
                <a:latin typeface="Trebuchet MS"/>
                <a:cs typeface="Trebuchet MS"/>
              </a:rPr>
              <a:t>a</a:t>
            </a:r>
            <a:r>
              <a:rPr sz="1700" spc="10" dirty="0">
                <a:latin typeface="Trebuchet MS"/>
                <a:cs typeface="Trebuchet MS"/>
              </a:rPr>
              <a:t>yments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5" dirty="0">
                <a:latin typeface="Trebuchet MS"/>
                <a:cs typeface="Trebuchet MS"/>
              </a:rPr>
              <a:t>of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5" dirty="0">
                <a:latin typeface="Trebuchet MS"/>
                <a:cs typeface="Trebuchet MS"/>
              </a:rPr>
              <a:t>C</a:t>
            </a:r>
            <a:r>
              <a:rPr sz="1700" spc="-20" dirty="0">
                <a:latin typeface="Trebuchet MS"/>
                <a:cs typeface="Trebuchet MS"/>
              </a:rPr>
              <a:t>r</a:t>
            </a:r>
            <a:r>
              <a:rPr sz="1700" spc="-55" dirty="0">
                <a:latin typeface="Trebuchet MS"/>
                <a:cs typeface="Trebuchet MS"/>
              </a:rPr>
              <a:t>edit  </a:t>
            </a:r>
            <a:r>
              <a:rPr sz="1700" spc="5" dirty="0">
                <a:latin typeface="Trebuchet MS"/>
                <a:cs typeface="Trebuchet MS"/>
              </a:rPr>
              <a:t>Ca</a:t>
            </a:r>
            <a:r>
              <a:rPr sz="1700" spc="-15" dirty="0">
                <a:latin typeface="Trebuchet MS"/>
                <a:cs typeface="Trebuchet MS"/>
              </a:rPr>
              <a:t>r</a:t>
            </a:r>
            <a:r>
              <a:rPr sz="1700" spc="10" dirty="0">
                <a:latin typeface="Trebuchet MS"/>
                <a:cs typeface="Trebuchet MS"/>
              </a:rPr>
              <a:t>d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Client</a:t>
            </a:r>
            <a:r>
              <a:rPr sz="1700" spc="-5" dirty="0">
                <a:latin typeface="Trebuchet MS"/>
                <a:cs typeface="Trebuchet MS"/>
              </a:rPr>
              <a:t>s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i</a:t>
            </a:r>
            <a:r>
              <a:rPr sz="1700" spc="-45" dirty="0">
                <a:latin typeface="Trebuchet MS"/>
                <a:cs typeface="Trebuchet MS"/>
              </a:rPr>
              <a:t>n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</a:t>
            </a:r>
            <a:r>
              <a:rPr sz="1700" spc="-5" dirty="0">
                <a:latin typeface="Trebuchet MS"/>
                <a:cs typeface="Trebuchet MS"/>
              </a:rPr>
              <a:t>aiwa</a:t>
            </a:r>
            <a:r>
              <a:rPr sz="1700" dirty="0">
                <a:latin typeface="Trebuchet MS"/>
                <a:cs typeface="Trebuchet MS"/>
              </a:rPr>
              <a:t>n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f</a:t>
            </a:r>
            <a:r>
              <a:rPr sz="1700" spc="-85" dirty="0">
                <a:latin typeface="Trebuchet MS"/>
                <a:cs typeface="Trebuchet MS"/>
              </a:rPr>
              <a:t>r</a:t>
            </a:r>
            <a:r>
              <a:rPr sz="1700" spc="40" dirty="0">
                <a:latin typeface="Trebuchet MS"/>
                <a:cs typeface="Trebuchet MS"/>
              </a:rPr>
              <a:t>om  </a:t>
            </a:r>
            <a:r>
              <a:rPr sz="1700" spc="55" dirty="0">
                <a:latin typeface="Trebuchet MS"/>
                <a:cs typeface="Trebuchet MS"/>
              </a:rPr>
              <a:t>2005</a:t>
            </a:r>
            <a:endParaRPr sz="1700">
              <a:latin typeface="Trebuchet MS"/>
              <a:cs typeface="Trebuchet MS"/>
            </a:endParaRPr>
          </a:p>
          <a:p>
            <a:pPr marL="575945" marR="695325" indent="-359410">
              <a:lnSpc>
                <a:spcPct val="116100"/>
              </a:lnSpc>
              <a:spcBef>
                <a:spcPts val="75"/>
              </a:spcBef>
              <a:buSzPct val="106250"/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600" spc="35" dirty="0">
                <a:latin typeface="Trebuchet MS"/>
                <a:cs typeface="Trebuchet MS"/>
              </a:rPr>
              <a:t>Sou</a:t>
            </a:r>
            <a:r>
              <a:rPr sz="1600" spc="15" dirty="0">
                <a:latin typeface="Trebuchet MS"/>
                <a:cs typeface="Trebuchet MS"/>
              </a:rPr>
              <a:t>r</a:t>
            </a:r>
            <a:r>
              <a:rPr sz="1600" spc="-75" dirty="0">
                <a:latin typeface="Trebuchet MS"/>
                <a:cs typeface="Trebuchet MS"/>
              </a:rPr>
              <a:t>ce</a:t>
            </a:r>
            <a:r>
              <a:rPr sz="1600" spc="-50" dirty="0">
                <a:latin typeface="Trebuchet MS"/>
                <a:cs typeface="Trebuchet MS"/>
              </a:rPr>
              <a:t>: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Publi</a:t>
            </a:r>
            <a:r>
              <a:rPr sz="1600" dirty="0">
                <a:latin typeface="Trebuchet MS"/>
                <a:cs typeface="Trebuchet MS"/>
              </a:rPr>
              <a:t>c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datase</a:t>
            </a:r>
            <a:r>
              <a:rPr sz="1600" spc="-5" dirty="0">
                <a:latin typeface="Trebuchet MS"/>
                <a:cs typeface="Trebuchet MS"/>
              </a:rPr>
              <a:t>t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f</a:t>
            </a:r>
            <a:r>
              <a:rPr sz="1600" spc="-75" dirty="0">
                <a:latin typeface="Trebuchet MS"/>
                <a:cs typeface="Trebuchet MS"/>
              </a:rPr>
              <a:t>r</a:t>
            </a:r>
            <a:r>
              <a:rPr sz="1600" spc="40" dirty="0">
                <a:latin typeface="Trebuchet MS"/>
                <a:cs typeface="Trebuchet MS"/>
              </a:rPr>
              <a:t>om  </a:t>
            </a:r>
            <a:r>
              <a:rPr sz="1600" u="heavy" dirty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Trebuchet MS"/>
                <a:cs typeface="Trebuchet MS"/>
                <a:hlinkClick r:id="rId3"/>
              </a:rPr>
              <a:t>Kaggle</a:t>
            </a:r>
            <a:r>
              <a:rPr sz="1600" dirty="0"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575945" marR="526415" indent="-359410">
              <a:lnSpc>
                <a:spcPct val="116100"/>
              </a:lnSpc>
              <a:spcBef>
                <a:spcPts val="40"/>
              </a:spcBef>
              <a:buSzPct val="106250"/>
              <a:buFont typeface="Arial"/>
              <a:buChar char="●"/>
              <a:tabLst>
                <a:tab pos="575945" algn="l"/>
                <a:tab pos="576580" algn="l"/>
              </a:tabLst>
            </a:pPr>
            <a:r>
              <a:rPr sz="1600" spc="-25" dirty="0">
                <a:latin typeface="Trebuchet MS"/>
                <a:cs typeface="Trebuchet MS"/>
              </a:rPr>
              <a:t>Original</a:t>
            </a:r>
            <a:r>
              <a:rPr sz="1600" spc="27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Source: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UCI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30" dirty="0">
                <a:latin typeface="Trebuchet MS"/>
                <a:cs typeface="Trebuchet MS"/>
              </a:rPr>
              <a:t>Machine </a:t>
            </a:r>
            <a:r>
              <a:rPr sz="1600" spc="-46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Learning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Repository*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5143500"/>
            <a:chOff x="4572000" y="0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97828" y="1957664"/>
            <a:ext cx="15779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4920" algn="l"/>
              </a:tabLst>
            </a:pPr>
            <a:r>
              <a:rPr sz="4200" spc="280" dirty="0">
                <a:solidFill>
                  <a:srgbClr val="2A3890"/>
                </a:solidFill>
                <a:latin typeface="Trebuchet MS"/>
                <a:cs typeface="Trebuchet MS"/>
              </a:rPr>
              <a:t>P</a:t>
            </a:r>
            <a:r>
              <a:rPr sz="4200" spc="-85" dirty="0">
                <a:solidFill>
                  <a:srgbClr val="2A3890"/>
                </a:solidFill>
                <a:latin typeface="Trebuchet MS"/>
                <a:cs typeface="Trebuchet MS"/>
              </a:rPr>
              <a:t>a</a:t>
            </a:r>
            <a:r>
              <a:rPr sz="4200" spc="35" dirty="0">
                <a:solidFill>
                  <a:srgbClr val="2A3890"/>
                </a:solidFill>
                <a:latin typeface="Trebuchet MS"/>
                <a:cs typeface="Trebuchet MS"/>
              </a:rPr>
              <a:t>r</a:t>
            </a:r>
            <a:r>
              <a:rPr sz="4200" spc="-295" dirty="0">
                <a:solidFill>
                  <a:srgbClr val="2A3890"/>
                </a:solidFill>
                <a:latin typeface="Trebuchet MS"/>
                <a:cs typeface="Trebuchet MS"/>
              </a:rPr>
              <a:t>t</a:t>
            </a:r>
            <a:r>
              <a:rPr sz="4200" dirty="0">
                <a:solidFill>
                  <a:srgbClr val="2A3890"/>
                </a:solidFill>
                <a:latin typeface="Trebuchet MS"/>
                <a:cs typeface="Trebuchet MS"/>
              </a:rPr>
              <a:t>	</a:t>
            </a:r>
            <a:r>
              <a:rPr sz="4200" spc="155" dirty="0">
                <a:solidFill>
                  <a:srgbClr val="2A3890"/>
                </a:solidFill>
                <a:latin typeface="Trebuchet MS"/>
                <a:cs typeface="Trebuchet MS"/>
              </a:rPr>
              <a:t>1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6</a:t>
            </a:fld>
            <a:endParaRPr spc="35" dirty="0"/>
          </a:p>
        </p:txBody>
      </p:sp>
      <p:sp>
        <p:nvSpPr>
          <p:cNvPr id="6" name="object 6"/>
          <p:cNvSpPr txBox="1"/>
          <p:nvPr/>
        </p:nvSpPr>
        <p:spPr>
          <a:xfrm>
            <a:off x="879764" y="2826786"/>
            <a:ext cx="28130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5960" marR="5080" indent="-683895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2A3890"/>
                </a:solidFill>
                <a:latin typeface="Trebuchet MS"/>
                <a:cs typeface="Trebuchet MS"/>
              </a:rPr>
              <a:t>Explo</a:t>
            </a:r>
            <a:r>
              <a:rPr sz="3000" spc="-80" dirty="0">
                <a:solidFill>
                  <a:srgbClr val="2A3890"/>
                </a:solidFill>
                <a:latin typeface="Trebuchet MS"/>
                <a:cs typeface="Trebuchet MS"/>
              </a:rPr>
              <a:t>r</a:t>
            </a:r>
            <a:r>
              <a:rPr sz="3000" spc="-95" dirty="0">
                <a:solidFill>
                  <a:srgbClr val="2A3890"/>
                </a:solidFill>
                <a:latin typeface="Trebuchet MS"/>
                <a:cs typeface="Trebuchet MS"/>
              </a:rPr>
              <a:t>a</a:t>
            </a:r>
            <a:r>
              <a:rPr sz="3000" spc="-100" dirty="0">
                <a:solidFill>
                  <a:srgbClr val="2A3890"/>
                </a:solidFill>
                <a:latin typeface="Trebuchet MS"/>
                <a:cs typeface="Trebuchet MS"/>
              </a:rPr>
              <a:t>t</a:t>
            </a:r>
            <a:r>
              <a:rPr sz="3000" spc="-35" dirty="0">
                <a:solidFill>
                  <a:srgbClr val="2A3890"/>
                </a:solidFill>
                <a:latin typeface="Trebuchet MS"/>
                <a:cs typeface="Trebuchet MS"/>
              </a:rPr>
              <a:t>o</a:t>
            </a:r>
            <a:r>
              <a:rPr sz="3000" spc="-5" dirty="0">
                <a:solidFill>
                  <a:srgbClr val="2A3890"/>
                </a:solidFill>
                <a:latin typeface="Trebuchet MS"/>
                <a:cs typeface="Trebuchet MS"/>
              </a:rPr>
              <a:t>r</a:t>
            </a:r>
            <a:r>
              <a:rPr sz="3000" spc="-65" dirty="0">
                <a:solidFill>
                  <a:srgbClr val="2A3890"/>
                </a:solidFill>
                <a:latin typeface="Trebuchet MS"/>
                <a:cs typeface="Trebuchet MS"/>
              </a:rPr>
              <a:t>y</a:t>
            </a:r>
            <a:r>
              <a:rPr sz="3000" spc="-165" dirty="0">
                <a:solidFill>
                  <a:srgbClr val="2A3890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A3890"/>
                </a:solidFill>
                <a:latin typeface="Trebuchet MS"/>
                <a:cs typeface="Trebuchet MS"/>
              </a:rPr>
              <a:t>Data  </a:t>
            </a:r>
            <a:r>
              <a:rPr sz="3000" spc="65" dirty="0">
                <a:solidFill>
                  <a:srgbClr val="2A3890"/>
                </a:solidFill>
                <a:latin typeface="Trebuchet MS"/>
                <a:cs typeface="Trebuchet MS"/>
              </a:rPr>
              <a:t>Analysis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1284" y="2224532"/>
            <a:ext cx="3446779" cy="6692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39700">
              <a:lnSpc>
                <a:spcPct val="101200"/>
              </a:lnSpc>
              <a:spcBef>
                <a:spcPts val="70"/>
              </a:spcBef>
            </a:pPr>
            <a:r>
              <a:rPr sz="2100" spc="-10" dirty="0">
                <a:solidFill>
                  <a:srgbClr val="FFFFFF"/>
                </a:solidFill>
                <a:latin typeface="Trebuchet MS"/>
                <a:cs typeface="Trebuchet MS"/>
              </a:rPr>
              <a:t>What </a:t>
            </a:r>
            <a:r>
              <a:rPr sz="2100" spc="5" dirty="0">
                <a:solidFill>
                  <a:srgbClr val="FFFFFF"/>
                </a:solidFill>
                <a:latin typeface="Trebuchet MS"/>
                <a:cs typeface="Trebuchet MS"/>
              </a:rPr>
              <a:t>demographic factors </a:t>
            </a:r>
            <a:r>
              <a:rPr sz="21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15" dirty="0">
                <a:solidFill>
                  <a:srgbClr val="FFFFFF"/>
                </a:solidFill>
                <a:latin typeface="Trebuchet MS"/>
                <a:cs typeface="Trebuchet MS"/>
              </a:rPr>
              <a:t>impac</a:t>
            </a:r>
            <a:r>
              <a:rPr sz="2100" spc="-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1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2100" spc="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100" spc="-30" dirty="0">
                <a:solidFill>
                  <a:srgbClr val="FFFFFF"/>
                </a:solidFill>
                <a:latin typeface="Trebuchet MS"/>
                <a:cs typeface="Trebuchet MS"/>
              </a:rPr>
              <a:t>ymen</a:t>
            </a:r>
            <a:r>
              <a:rPr sz="2100" spc="-2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1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Trebuchet MS"/>
                <a:cs typeface="Trebuchet MS"/>
              </a:rPr>
              <a:t>defaul</a:t>
            </a:r>
            <a:r>
              <a:rPr sz="2100" spc="-3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1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rgbClr val="FFFFFF"/>
                </a:solidFill>
                <a:latin typeface="Trebuchet MS"/>
                <a:cs typeface="Trebuchet MS"/>
              </a:rPr>
              <a:t>risk?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2711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Gende</a:t>
            </a:r>
            <a:r>
              <a:rPr spc="-25" dirty="0"/>
              <a:t>r</a:t>
            </a:r>
            <a:r>
              <a:rPr spc="-165" dirty="0"/>
              <a:t> </a:t>
            </a:r>
            <a:r>
              <a:rPr spc="75" dirty="0"/>
              <a:t>V</a:t>
            </a:r>
            <a:r>
              <a:rPr spc="-60" dirty="0"/>
              <a:t>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49" y="1211900"/>
            <a:ext cx="5781674" cy="3124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200" y="1451466"/>
            <a:ext cx="2187575" cy="13754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5"/>
              </a:spcBef>
            </a:pPr>
            <a:r>
              <a:rPr sz="2300" b="1" spc="15" dirty="0">
                <a:latin typeface="Trebuchet MS"/>
                <a:cs typeface="Trebuchet MS"/>
              </a:rPr>
              <a:t>30%</a:t>
            </a:r>
            <a:r>
              <a:rPr sz="2300" b="1" spc="-145" dirty="0">
                <a:latin typeface="Trebuchet MS"/>
                <a:cs typeface="Trebuchet MS"/>
              </a:rPr>
              <a:t> </a:t>
            </a:r>
            <a:r>
              <a:rPr sz="2100" spc="5" dirty="0">
                <a:latin typeface="Trebuchet MS"/>
                <a:cs typeface="Trebuchet MS"/>
              </a:rPr>
              <a:t>of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40" dirty="0">
                <a:latin typeface="Trebuchet MS"/>
                <a:cs typeface="Trebuchet MS"/>
              </a:rPr>
              <a:t>males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15" dirty="0">
                <a:latin typeface="Trebuchet MS"/>
                <a:cs typeface="Trebuchet MS"/>
              </a:rPr>
              <a:t>and </a:t>
            </a:r>
            <a:r>
              <a:rPr sz="2100" spc="-620" dirty="0">
                <a:latin typeface="Trebuchet MS"/>
                <a:cs typeface="Trebuchet MS"/>
              </a:rPr>
              <a:t> </a:t>
            </a:r>
            <a:r>
              <a:rPr sz="2300" b="1" spc="15" dirty="0">
                <a:latin typeface="Trebuchet MS"/>
                <a:cs typeface="Trebuchet MS"/>
              </a:rPr>
              <a:t>26</a:t>
            </a:r>
            <a:r>
              <a:rPr sz="2300" b="1" spc="25" dirty="0">
                <a:latin typeface="Trebuchet MS"/>
                <a:cs typeface="Trebuchet MS"/>
              </a:rPr>
              <a:t>%</a:t>
            </a:r>
            <a:r>
              <a:rPr sz="2300" b="1" spc="-175" dirty="0">
                <a:latin typeface="Trebuchet MS"/>
                <a:cs typeface="Trebuchet MS"/>
              </a:rPr>
              <a:t> </a:t>
            </a:r>
            <a:r>
              <a:rPr sz="2100" spc="5" dirty="0">
                <a:latin typeface="Trebuchet MS"/>
                <a:cs typeface="Trebuchet MS"/>
              </a:rPr>
              <a:t>of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f</a:t>
            </a:r>
            <a:r>
              <a:rPr sz="2100" spc="20" dirty="0">
                <a:latin typeface="Trebuchet MS"/>
                <a:cs typeface="Trebuchet MS"/>
              </a:rPr>
              <a:t>emales  </a:t>
            </a:r>
            <a:r>
              <a:rPr sz="2100" spc="-10" dirty="0">
                <a:latin typeface="Trebuchet MS"/>
                <a:cs typeface="Trebuchet MS"/>
              </a:rPr>
              <a:t>have </a:t>
            </a:r>
            <a:r>
              <a:rPr sz="2100" spc="-20" dirty="0">
                <a:latin typeface="Trebuchet MS"/>
                <a:cs typeface="Trebuchet MS"/>
              </a:rPr>
              <a:t>payment </a:t>
            </a:r>
            <a:r>
              <a:rPr sz="2100" spc="-1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default.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7</a:t>
            </a:fld>
            <a:endParaRPr spc="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467785"/>
            <a:ext cx="3178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A3890"/>
                </a:solidFill>
                <a:latin typeface="Trebuchet MS"/>
                <a:cs typeface="Trebuchet MS"/>
              </a:rPr>
              <a:t>Education</a:t>
            </a:r>
            <a:r>
              <a:rPr sz="3000" spc="-215" dirty="0">
                <a:solidFill>
                  <a:srgbClr val="2A3890"/>
                </a:solidFill>
                <a:latin typeface="Trebuchet MS"/>
                <a:cs typeface="Trebuchet MS"/>
              </a:rPr>
              <a:t> </a:t>
            </a:r>
            <a:r>
              <a:rPr sz="3000" spc="-40" dirty="0">
                <a:solidFill>
                  <a:srgbClr val="2A3890"/>
                </a:solidFill>
                <a:latin typeface="Trebuchet MS"/>
                <a:cs typeface="Trebuchet MS"/>
              </a:rPr>
              <a:t>Variable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4800" y="1170199"/>
            <a:ext cx="7870825" cy="3736340"/>
            <a:chOff x="304800" y="1170199"/>
            <a:chExt cx="7870825" cy="3736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1170199"/>
              <a:ext cx="5820125" cy="31449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0924" y="4177799"/>
              <a:ext cx="7359650" cy="723900"/>
            </a:xfrm>
            <a:custGeom>
              <a:avLst/>
              <a:gdLst/>
              <a:ahLst/>
              <a:cxnLst/>
              <a:rect l="l" t="t" r="r" b="b"/>
              <a:pathLst>
                <a:path w="7359650" h="723900">
                  <a:moveTo>
                    <a:pt x="7359599" y="723849"/>
                  </a:moveTo>
                  <a:lnTo>
                    <a:pt x="0" y="723849"/>
                  </a:lnTo>
                  <a:lnTo>
                    <a:pt x="0" y="330249"/>
                  </a:lnTo>
                  <a:lnTo>
                    <a:pt x="1226599" y="330249"/>
                  </a:lnTo>
                  <a:lnTo>
                    <a:pt x="785048" y="0"/>
                  </a:lnTo>
                  <a:lnTo>
                    <a:pt x="3066499" y="330249"/>
                  </a:lnTo>
                  <a:lnTo>
                    <a:pt x="7359599" y="330249"/>
                  </a:lnTo>
                  <a:lnTo>
                    <a:pt x="7359599" y="723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0924" y="4177799"/>
              <a:ext cx="7359650" cy="723900"/>
            </a:xfrm>
            <a:custGeom>
              <a:avLst/>
              <a:gdLst/>
              <a:ahLst/>
              <a:cxnLst/>
              <a:rect l="l" t="t" r="r" b="b"/>
              <a:pathLst>
                <a:path w="7359650" h="723900">
                  <a:moveTo>
                    <a:pt x="0" y="330249"/>
                  </a:moveTo>
                  <a:lnTo>
                    <a:pt x="1226599" y="330249"/>
                  </a:lnTo>
                  <a:lnTo>
                    <a:pt x="785048" y="0"/>
                  </a:lnTo>
                  <a:lnTo>
                    <a:pt x="3066499" y="330249"/>
                  </a:lnTo>
                  <a:lnTo>
                    <a:pt x="7359599" y="330249"/>
                  </a:lnTo>
                  <a:lnTo>
                    <a:pt x="7359599" y="395849"/>
                  </a:lnTo>
                  <a:lnTo>
                    <a:pt x="7359599" y="494249"/>
                  </a:lnTo>
                  <a:lnTo>
                    <a:pt x="7359599" y="723849"/>
                  </a:lnTo>
                  <a:lnTo>
                    <a:pt x="3066499" y="723849"/>
                  </a:lnTo>
                  <a:lnTo>
                    <a:pt x="1226599" y="723849"/>
                  </a:lnTo>
                  <a:lnTo>
                    <a:pt x="0" y="723849"/>
                  </a:lnTo>
                  <a:lnTo>
                    <a:pt x="0" y="494249"/>
                  </a:lnTo>
                  <a:lnTo>
                    <a:pt x="0" y="395849"/>
                  </a:lnTo>
                  <a:lnTo>
                    <a:pt x="0" y="330249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18200" y="1401047"/>
            <a:ext cx="223202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b="1" spc="-35" dirty="0">
                <a:latin typeface="Trebuchet MS"/>
                <a:cs typeface="Trebuchet MS"/>
              </a:rPr>
              <a:t>Highe</a:t>
            </a:r>
            <a:r>
              <a:rPr sz="2100" b="1" spc="-25" dirty="0">
                <a:latin typeface="Trebuchet MS"/>
                <a:cs typeface="Trebuchet MS"/>
              </a:rPr>
              <a:t>r</a:t>
            </a:r>
            <a:r>
              <a:rPr sz="2100" b="1" spc="-110" dirty="0">
                <a:latin typeface="Trebuchet MS"/>
                <a:cs typeface="Trebuchet MS"/>
              </a:rPr>
              <a:t> </a:t>
            </a:r>
            <a:r>
              <a:rPr sz="2100" spc="-15" dirty="0">
                <a:latin typeface="Trebuchet MS"/>
                <a:cs typeface="Trebuchet MS"/>
              </a:rPr>
              <a:t>education  </a:t>
            </a:r>
            <a:r>
              <a:rPr sz="2100" spc="-55" dirty="0">
                <a:latin typeface="Trebuchet MS"/>
                <a:cs typeface="Trebuchet MS"/>
              </a:rPr>
              <a:t>l</a:t>
            </a:r>
            <a:r>
              <a:rPr sz="2100" spc="-110" dirty="0">
                <a:latin typeface="Trebuchet MS"/>
                <a:cs typeface="Trebuchet MS"/>
              </a:rPr>
              <a:t>e</a:t>
            </a:r>
            <a:r>
              <a:rPr sz="2100" spc="-30" dirty="0">
                <a:latin typeface="Trebuchet MS"/>
                <a:cs typeface="Trebuchet MS"/>
              </a:rPr>
              <a:t>v</a:t>
            </a:r>
            <a:r>
              <a:rPr sz="2100" spc="-180" dirty="0">
                <a:latin typeface="Trebuchet MS"/>
                <a:cs typeface="Trebuchet MS"/>
              </a:rPr>
              <a:t>el</a:t>
            </a:r>
            <a:r>
              <a:rPr sz="2100" spc="-155" dirty="0">
                <a:latin typeface="Trebuchet MS"/>
                <a:cs typeface="Trebuchet MS"/>
              </a:rPr>
              <a:t>,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b="1" spc="-85" dirty="0">
                <a:latin typeface="Trebuchet MS"/>
                <a:cs typeface="Trebuchet MS"/>
              </a:rPr>
              <a:t>lowe</a:t>
            </a:r>
            <a:r>
              <a:rPr sz="2100" b="1" spc="-60" dirty="0">
                <a:latin typeface="Trebuchet MS"/>
                <a:cs typeface="Trebuchet MS"/>
              </a:rPr>
              <a:t>r</a:t>
            </a:r>
            <a:r>
              <a:rPr sz="2100" b="1" spc="-11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default  risk.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8</a:t>
            </a:fld>
            <a:endParaRPr spc="35" dirty="0"/>
          </a:p>
        </p:txBody>
      </p:sp>
      <p:sp>
        <p:nvSpPr>
          <p:cNvPr id="8" name="object 8"/>
          <p:cNvSpPr txBox="1"/>
          <p:nvPr/>
        </p:nvSpPr>
        <p:spPr>
          <a:xfrm>
            <a:off x="883950" y="4585533"/>
            <a:ext cx="67570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5" dirty="0">
                <a:latin typeface="Trebuchet MS"/>
                <a:cs typeface="Trebuchet MS"/>
              </a:rPr>
              <a:t>“Others”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15" dirty="0">
                <a:latin typeface="Trebuchet MS"/>
                <a:cs typeface="Trebuchet MS"/>
              </a:rPr>
              <a:t>only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40" dirty="0">
                <a:latin typeface="Trebuchet MS"/>
                <a:cs typeface="Trebuchet MS"/>
              </a:rPr>
              <a:t>consists</a:t>
            </a:r>
            <a:r>
              <a:rPr sz="1300" spc="-65" dirty="0">
                <a:latin typeface="Trebuchet MS"/>
                <a:cs typeface="Trebuchet MS"/>
              </a:rPr>
              <a:t> </a:t>
            </a:r>
            <a:r>
              <a:rPr sz="1300" spc="30" dirty="0">
                <a:latin typeface="Trebuchet MS"/>
                <a:cs typeface="Trebuchet MS"/>
              </a:rPr>
              <a:t>1.56%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of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total</a:t>
            </a:r>
            <a:r>
              <a:rPr sz="1300" spc="-65" dirty="0">
                <a:latin typeface="Trebuchet MS"/>
                <a:cs typeface="Trebuchet MS"/>
              </a:rPr>
              <a:t> </a:t>
            </a:r>
            <a:r>
              <a:rPr sz="1300" spc="20" dirty="0">
                <a:latin typeface="Trebuchet MS"/>
                <a:cs typeface="Trebuchet MS"/>
              </a:rPr>
              <a:t>customers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even</a:t>
            </a:r>
            <a:r>
              <a:rPr sz="1300" spc="-65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if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they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appear</a:t>
            </a:r>
            <a:r>
              <a:rPr sz="1300" spc="-65" dirty="0">
                <a:latin typeface="Trebuchet MS"/>
                <a:cs typeface="Trebuchet MS"/>
              </a:rPr>
              <a:t> </a:t>
            </a:r>
            <a:r>
              <a:rPr sz="1300" spc="-35" dirty="0">
                <a:latin typeface="Trebuchet MS"/>
                <a:cs typeface="Trebuchet MS"/>
              </a:rPr>
              <a:t>to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have</a:t>
            </a:r>
            <a:r>
              <a:rPr sz="1300" spc="-65" dirty="0">
                <a:latin typeface="Trebuchet MS"/>
                <a:cs typeface="Trebuchet MS"/>
              </a:rPr>
              <a:t> </a:t>
            </a:r>
            <a:r>
              <a:rPr sz="1300" spc="-40" dirty="0">
                <a:latin typeface="Trebuchet MS"/>
                <a:cs typeface="Trebuchet MS"/>
              </a:rPr>
              <a:t>the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least</a:t>
            </a:r>
            <a:r>
              <a:rPr sz="1300" spc="-70" dirty="0">
                <a:latin typeface="Trebuchet MS"/>
                <a:cs typeface="Trebuchet MS"/>
              </a:rPr>
              <a:t> </a:t>
            </a:r>
            <a:r>
              <a:rPr sz="1300" spc="-45" dirty="0">
                <a:latin typeface="Trebuchet MS"/>
                <a:cs typeface="Trebuchet MS"/>
              </a:rPr>
              <a:t>default.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2158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Ag</a:t>
            </a:r>
            <a:r>
              <a:rPr spc="105" dirty="0"/>
              <a:t>e</a:t>
            </a:r>
            <a:r>
              <a:rPr spc="-165" dirty="0"/>
              <a:t> </a:t>
            </a:r>
            <a:r>
              <a:rPr spc="75" dirty="0"/>
              <a:t>V</a:t>
            </a:r>
            <a:r>
              <a:rPr spc="-60" dirty="0"/>
              <a:t>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70200"/>
            <a:ext cx="5781674" cy="3124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8700" y="1480306"/>
            <a:ext cx="1731645" cy="1640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60" dirty="0">
                <a:latin typeface="Trebuchet MS"/>
                <a:cs typeface="Trebuchet MS"/>
              </a:rPr>
              <a:t>30-50</a:t>
            </a:r>
            <a:r>
              <a:rPr sz="2100" spc="-60" dirty="0">
                <a:latin typeface="Trebuchet MS"/>
                <a:cs typeface="Trebuchet MS"/>
              </a:rPr>
              <a:t>: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30" dirty="0">
                <a:latin typeface="Trebuchet MS"/>
                <a:cs typeface="Trebuchet MS"/>
              </a:rPr>
              <a:t>Lowest</a:t>
            </a:r>
            <a:r>
              <a:rPr sz="2100" spc="-160" dirty="0">
                <a:latin typeface="Trebuchet MS"/>
                <a:cs typeface="Trebuchet MS"/>
              </a:rPr>
              <a:t> </a:t>
            </a:r>
            <a:r>
              <a:rPr sz="2100" spc="5" dirty="0">
                <a:latin typeface="Trebuchet MS"/>
                <a:cs typeface="Trebuchet MS"/>
              </a:rPr>
              <a:t>risk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00" b="1" spc="-165" dirty="0">
                <a:latin typeface="Trebuchet MS"/>
                <a:cs typeface="Trebuchet MS"/>
              </a:rPr>
              <a:t>&lt;</a:t>
            </a:r>
            <a:r>
              <a:rPr sz="2100" b="1" spc="-114" dirty="0">
                <a:latin typeface="Trebuchet MS"/>
                <a:cs typeface="Trebuchet MS"/>
              </a:rPr>
              <a:t> </a:t>
            </a:r>
            <a:r>
              <a:rPr sz="2100" b="1" spc="-35" dirty="0">
                <a:latin typeface="Trebuchet MS"/>
                <a:cs typeface="Trebuchet MS"/>
              </a:rPr>
              <a:t>3</a:t>
            </a:r>
            <a:r>
              <a:rPr sz="2100" b="1" spc="-30" dirty="0">
                <a:latin typeface="Trebuchet MS"/>
                <a:cs typeface="Trebuchet MS"/>
              </a:rPr>
              <a:t>0</a:t>
            </a:r>
            <a:r>
              <a:rPr sz="2100" b="1" spc="-114" dirty="0">
                <a:latin typeface="Trebuchet MS"/>
                <a:cs typeface="Trebuchet MS"/>
              </a:rPr>
              <a:t> </a:t>
            </a:r>
            <a:r>
              <a:rPr sz="2100" b="1" spc="-85" dirty="0">
                <a:latin typeface="Trebuchet MS"/>
                <a:cs typeface="Trebuchet MS"/>
              </a:rPr>
              <a:t>o</a:t>
            </a:r>
            <a:r>
              <a:rPr sz="2100" b="1" spc="-60" dirty="0">
                <a:latin typeface="Trebuchet MS"/>
                <a:cs typeface="Trebuchet MS"/>
              </a:rPr>
              <a:t>r</a:t>
            </a:r>
            <a:r>
              <a:rPr sz="2100" b="1" spc="-114" dirty="0">
                <a:latin typeface="Trebuchet MS"/>
                <a:cs typeface="Trebuchet MS"/>
              </a:rPr>
              <a:t> </a:t>
            </a:r>
            <a:r>
              <a:rPr sz="2100" b="1" spc="-100" dirty="0">
                <a:latin typeface="Trebuchet MS"/>
                <a:cs typeface="Trebuchet MS"/>
              </a:rPr>
              <a:t>&gt;50: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45" dirty="0">
                <a:latin typeface="Trebuchet MS"/>
                <a:cs typeface="Trebuchet MS"/>
              </a:rPr>
              <a:t>Ris</a:t>
            </a:r>
            <a:r>
              <a:rPr sz="2100" spc="60" dirty="0">
                <a:latin typeface="Trebuchet MS"/>
                <a:cs typeface="Trebuchet MS"/>
              </a:rPr>
              <a:t>k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-40" dirty="0">
                <a:latin typeface="Trebuchet MS"/>
                <a:cs typeface="Trebuchet MS"/>
              </a:rPr>
              <a:t>inc</a:t>
            </a:r>
            <a:r>
              <a:rPr sz="2100" spc="-55" dirty="0">
                <a:latin typeface="Trebuchet MS"/>
                <a:cs typeface="Trebuchet MS"/>
              </a:rPr>
              <a:t>r</a:t>
            </a:r>
            <a:r>
              <a:rPr sz="2100" spc="80" dirty="0">
                <a:latin typeface="Trebuchet MS"/>
                <a:cs typeface="Trebuchet MS"/>
              </a:rPr>
              <a:t>eases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9</a:t>
            </a:fld>
            <a:endParaRPr spc="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862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Marital</a:t>
            </a:r>
            <a:r>
              <a:rPr spc="-185" dirty="0"/>
              <a:t> </a:t>
            </a:r>
            <a:r>
              <a:rPr spc="45" dirty="0"/>
              <a:t>Status</a:t>
            </a:r>
            <a:r>
              <a:rPr spc="-180" dirty="0"/>
              <a:t> </a:t>
            </a:r>
            <a:r>
              <a:rPr spc="-40" dirty="0"/>
              <a:t>Variable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70200"/>
            <a:ext cx="5781674" cy="3124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62600" y="1574921"/>
            <a:ext cx="1849755" cy="14986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65"/>
              </a:spcBef>
            </a:pPr>
            <a:r>
              <a:rPr sz="2100" b="1" spc="35" dirty="0">
                <a:latin typeface="Trebuchet MS"/>
                <a:cs typeface="Trebuchet MS"/>
              </a:rPr>
              <a:t>No </a:t>
            </a:r>
            <a:r>
              <a:rPr sz="2100" dirty="0">
                <a:latin typeface="Trebuchet MS"/>
                <a:cs typeface="Trebuchet MS"/>
              </a:rPr>
              <a:t>signiﬁcant </a:t>
            </a:r>
            <a:r>
              <a:rPr sz="2100" spc="5" dirty="0">
                <a:latin typeface="Trebuchet MS"/>
                <a:cs typeface="Trebuchet MS"/>
              </a:rPr>
              <a:t> </a:t>
            </a:r>
            <a:r>
              <a:rPr sz="2100" spc="-30" dirty="0">
                <a:latin typeface="Trebuchet MS"/>
                <a:cs typeface="Trebuchet MS"/>
              </a:rPr>
              <a:t>cor</a:t>
            </a:r>
            <a:r>
              <a:rPr sz="2100" spc="-40" dirty="0">
                <a:latin typeface="Trebuchet MS"/>
                <a:cs typeface="Trebuchet MS"/>
              </a:rPr>
              <a:t>r</a:t>
            </a:r>
            <a:r>
              <a:rPr sz="2100" spc="-10" dirty="0">
                <a:latin typeface="Trebuchet MS"/>
                <a:cs typeface="Trebuchet MS"/>
              </a:rPr>
              <a:t>elation</a:t>
            </a:r>
            <a:r>
              <a:rPr sz="2100" spc="-5" dirty="0">
                <a:latin typeface="Trebuchet MS"/>
                <a:cs typeface="Trebuchet MS"/>
              </a:rPr>
              <a:t>s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  </a:t>
            </a:r>
            <a:r>
              <a:rPr sz="2100" spc="-45" dirty="0">
                <a:latin typeface="Trebuchet MS"/>
                <a:cs typeface="Trebuchet MS"/>
              </a:rPr>
              <a:t>defaul</a:t>
            </a:r>
            <a:r>
              <a:rPr sz="2100" spc="-35" dirty="0">
                <a:latin typeface="Trebuchet MS"/>
                <a:cs typeface="Trebuchet MS"/>
              </a:rPr>
              <a:t>t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ris</a:t>
            </a:r>
            <a:r>
              <a:rPr sz="2100" spc="10" dirty="0">
                <a:latin typeface="Trebuchet MS"/>
                <a:cs typeface="Trebuchet MS"/>
              </a:rPr>
              <a:t>k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10" dirty="0">
                <a:latin typeface="Trebuchet MS"/>
                <a:cs typeface="Trebuchet MS"/>
              </a:rPr>
              <a:t>and  </a:t>
            </a:r>
            <a:r>
              <a:rPr sz="2100" spc="-50" dirty="0">
                <a:latin typeface="Trebuchet MS"/>
                <a:cs typeface="Trebuchet MS"/>
              </a:rPr>
              <a:t>marita</a:t>
            </a:r>
            <a:r>
              <a:rPr sz="2100" spc="-30" dirty="0">
                <a:latin typeface="Trebuchet MS"/>
                <a:cs typeface="Trebuchet MS"/>
              </a:rPr>
              <a:t>l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30" dirty="0">
                <a:latin typeface="Trebuchet MS"/>
                <a:cs typeface="Trebuchet MS"/>
              </a:rPr>
              <a:t>status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10</a:t>
            </a:fld>
            <a:endParaRPr spc="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4410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</a:t>
            </a:r>
            <a:r>
              <a:rPr spc="-30" dirty="0"/>
              <a:t>r</a:t>
            </a:r>
            <a:r>
              <a:rPr spc="-100" dirty="0"/>
              <a:t>edi</a:t>
            </a:r>
            <a:r>
              <a:rPr spc="-85" dirty="0"/>
              <a:t>t</a:t>
            </a:r>
            <a:r>
              <a:rPr spc="-170" dirty="0"/>
              <a:t> </a:t>
            </a:r>
            <a:r>
              <a:rPr spc="-55" dirty="0"/>
              <a:t>Limi</a:t>
            </a:r>
            <a:r>
              <a:rPr spc="-40" dirty="0"/>
              <a:t>t</a:t>
            </a:r>
            <a:r>
              <a:rPr spc="-165" dirty="0"/>
              <a:t> </a:t>
            </a:r>
            <a:r>
              <a:rPr spc="75" dirty="0"/>
              <a:t>V</a:t>
            </a:r>
            <a:r>
              <a:rPr spc="-60" dirty="0"/>
              <a:t>ariable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170200"/>
            <a:ext cx="5376474" cy="34874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03850" y="1950072"/>
            <a:ext cx="2331720" cy="97790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100" b="1" spc="-35" dirty="0">
                <a:latin typeface="Trebuchet MS"/>
                <a:cs typeface="Trebuchet MS"/>
              </a:rPr>
              <a:t>Highe</a:t>
            </a:r>
            <a:r>
              <a:rPr sz="2100" b="1" spc="-25" dirty="0">
                <a:latin typeface="Trebuchet MS"/>
                <a:cs typeface="Trebuchet MS"/>
              </a:rPr>
              <a:t>r</a:t>
            </a:r>
            <a:r>
              <a:rPr sz="2100" b="1" spc="-100" dirty="0">
                <a:latin typeface="Trebuchet MS"/>
                <a:cs typeface="Trebuchet MS"/>
              </a:rPr>
              <a:t> </a:t>
            </a:r>
            <a:r>
              <a:rPr sz="2100" spc="-35" dirty="0">
                <a:latin typeface="Trebuchet MS"/>
                <a:cs typeface="Trebuchet MS"/>
              </a:rPr>
              <a:t>c</a:t>
            </a:r>
            <a:r>
              <a:rPr sz="2100" spc="-45" dirty="0">
                <a:latin typeface="Trebuchet MS"/>
                <a:cs typeface="Trebuchet MS"/>
              </a:rPr>
              <a:t>r</a:t>
            </a:r>
            <a:r>
              <a:rPr sz="2100" spc="-75" dirty="0">
                <a:latin typeface="Trebuchet MS"/>
                <a:cs typeface="Trebuchet MS"/>
              </a:rPr>
              <a:t>edi</a:t>
            </a:r>
            <a:r>
              <a:rPr sz="2100" spc="-60" dirty="0">
                <a:latin typeface="Trebuchet MS"/>
                <a:cs typeface="Trebuchet MS"/>
              </a:rPr>
              <a:t>t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limits,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100" b="1" spc="-85" dirty="0">
                <a:latin typeface="Trebuchet MS"/>
                <a:cs typeface="Trebuchet MS"/>
              </a:rPr>
              <a:t>lowe</a:t>
            </a:r>
            <a:r>
              <a:rPr sz="2100" b="1" spc="-60" dirty="0">
                <a:latin typeface="Trebuchet MS"/>
                <a:cs typeface="Trebuchet MS"/>
              </a:rPr>
              <a:t>r</a:t>
            </a:r>
            <a:r>
              <a:rPr sz="2100" b="1" spc="-114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defaul</a:t>
            </a:r>
            <a:r>
              <a:rPr sz="2100" spc="-35" dirty="0">
                <a:latin typeface="Trebuchet MS"/>
                <a:cs typeface="Trebuchet MS"/>
              </a:rPr>
              <a:t>t</a:t>
            </a:r>
            <a:r>
              <a:rPr sz="2100" spc="-12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risk.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11</a:t>
            </a:fld>
            <a:endParaRPr spc="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12</a:t>
            </a:fld>
            <a:endParaRPr spc="3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2453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E</a:t>
            </a:r>
            <a:r>
              <a:rPr spc="85" dirty="0"/>
              <a:t>D</a:t>
            </a:r>
            <a:r>
              <a:rPr spc="185" dirty="0"/>
              <a:t>A</a:t>
            </a:r>
            <a:r>
              <a:rPr spc="-165" dirty="0"/>
              <a:t> </a:t>
            </a:r>
            <a:r>
              <a:rPr spc="90" dirty="0"/>
              <a:t>Summa</a:t>
            </a:r>
            <a:r>
              <a:rPr spc="75" dirty="0"/>
              <a:t>r</a:t>
            </a:r>
            <a:r>
              <a:rPr spc="-6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124" y="1110251"/>
            <a:ext cx="7647940" cy="207327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30" dirty="0">
                <a:latin typeface="Trebuchet MS"/>
                <a:cs typeface="Trebuchet MS"/>
              </a:rPr>
              <a:t>Demog</a:t>
            </a:r>
            <a:r>
              <a:rPr sz="1800" spc="-20" dirty="0">
                <a:latin typeface="Trebuchet MS"/>
                <a:cs typeface="Trebuchet MS"/>
              </a:rPr>
              <a:t>r</a:t>
            </a:r>
            <a:r>
              <a:rPr sz="1800" spc="-5" dirty="0">
                <a:latin typeface="Trebuchet MS"/>
                <a:cs typeface="Trebuchet MS"/>
              </a:rPr>
              <a:t>aphi</a:t>
            </a:r>
            <a:r>
              <a:rPr sz="1800" dirty="0">
                <a:latin typeface="Trebuchet MS"/>
                <a:cs typeface="Trebuchet MS"/>
              </a:rPr>
              <a:t>c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fac</a:t>
            </a:r>
            <a:r>
              <a:rPr sz="1800" spc="-40" dirty="0">
                <a:latin typeface="Trebuchet MS"/>
                <a:cs typeface="Trebuchet MS"/>
              </a:rPr>
              <a:t>t</a:t>
            </a:r>
            <a:r>
              <a:rPr sz="1800" spc="50" dirty="0">
                <a:latin typeface="Trebuchet MS"/>
                <a:cs typeface="Trebuchet MS"/>
              </a:rPr>
              <a:t>ors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tha</a:t>
            </a:r>
            <a:r>
              <a:rPr sz="1800" spc="-4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impac</a:t>
            </a:r>
            <a:r>
              <a:rPr sz="1800" spc="-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</a:t>
            </a:r>
            <a:r>
              <a:rPr sz="1800" spc="-30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ris</a:t>
            </a:r>
            <a:r>
              <a:rPr sz="1800" spc="10" dirty="0">
                <a:latin typeface="Trebuchet MS"/>
                <a:cs typeface="Trebuchet MS"/>
              </a:rPr>
              <a:t>k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135" dirty="0">
                <a:latin typeface="Trebuchet MS"/>
                <a:cs typeface="Trebuchet MS"/>
              </a:rPr>
              <a:t>e: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spc="-30" dirty="0">
                <a:latin typeface="Trebuchet MS"/>
                <a:cs typeface="Trebuchet MS"/>
              </a:rPr>
              <a:t>Education: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Higher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education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is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associated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with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lower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default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risk.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spc="-15" dirty="0">
                <a:latin typeface="Trebuchet MS"/>
                <a:cs typeface="Trebuchet MS"/>
              </a:rPr>
              <a:t>Age: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35" dirty="0">
                <a:latin typeface="Trebuchet MS"/>
                <a:cs typeface="Trebuchet MS"/>
              </a:rPr>
              <a:t>Customers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aged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30-50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have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lowest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risk.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spc="-20" dirty="0">
                <a:latin typeface="Trebuchet MS"/>
                <a:cs typeface="Trebuchet MS"/>
              </a:rPr>
              <a:t>Sex: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Females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have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lower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risk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than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males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in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this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dataset.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spc="-45" dirty="0">
                <a:latin typeface="Trebuchet MS"/>
                <a:cs typeface="Trebuchet MS"/>
              </a:rPr>
              <a:t>Credit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limit:</a:t>
            </a:r>
            <a:r>
              <a:rPr sz="1800" spc="35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Higher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credit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limit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is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associated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with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lower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risk.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0"/>
            <a:ext cx="4572000" cy="5143500"/>
            <a:chOff x="4572000" y="0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0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63852" y="1957664"/>
            <a:ext cx="14465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280" dirty="0"/>
              <a:t>P</a:t>
            </a:r>
            <a:r>
              <a:rPr sz="4200" spc="-85" dirty="0"/>
              <a:t>a</a:t>
            </a:r>
            <a:r>
              <a:rPr sz="4200" spc="35" dirty="0"/>
              <a:t>r</a:t>
            </a:r>
            <a:r>
              <a:rPr sz="4200" spc="-295" dirty="0"/>
              <a:t>t</a:t>
            </a:r>
            <a:r>
              <a:rPr sz="4200" spc="-235" dirty="0"/>
              <a:t> </a:t>
            </a:r>
            <a:r>
              <a:rPr sz="4200" spc="155" dirty="0"/>
              <a:t>2</a:t>
            </a:r>
            <a:endParaRPr sz="42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13</a:t>
            </a:fld>
            <a:endParaRPr spc="35" dirty="0"/>
          </a:p>
        </p:txBody>
      </p:sp>
      <p:sp>
        <p:nvSpPr>
          <p:cNvPr id="6" name="object 6"/>
          <p:cNvSpPr txBox="1"/>
          <p:nvPr/>
        </p:nvSpPr>
        <p:spPr>
          <a:xfrm>
            <a:off x="602850" y="2826786"/>
            <a:ext cx="33674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5" dirty="0">
                <a:solidFill>
                  <a:srgbClr val="2A3890"/>
                </a:solidFill>
                <a:latin typeface="Trebuchet MS"/>
                <a:cs typeface="Trebuchet MS"/>
              </a:rPr>
              <a:t>P</a:t>
            </a:r>
            <a:r>
              <a:rPr sz="3000" spc="-5" dirty="0">
                <a:solidFill>
                  <a:srgbClr val="2A3890"/>
                </a:solidFill>
                <a:latin typeface="Trebuchet MS"/>
                <a:cs typeface="Trebuchet MS"/>
              </a:rPr>
              <a:t>r</a:t>
            </a:r>
            <a:r>
              <a:rPr sz="3000" spc="-65" dirty="0">
                <a:solidFill>
                  <a:srgbClr val="2A3890"/>
                </a:solidFill>
                <a:latin typeface="Trebuchet MS"/>
                <a:cs typeface="Trebuchet MS"/>
              </a:rPr>
              <a:t>edicti</a:t>
            </a:r>
            <a:r>
              <a:rPr sz="3000" spc="-95" dirty="0">
                <a:solidFill>
                  <a:srgbClr val="2A3890"/>
                </a:solidFill>
                <a:latin typeface="Trebuchet MS"/>
                <a:cs typeface="Trebuchet MS"/>
              </a:rPr>
              <a:t>v</a:t>
            </a:r>
            <a:r>
              <a:rPr sz="3000" spc="-50" dirty="0">
                <a:solidFill>
                  <a:srgbClr val="2A3890"/>
                </a:solidFill>
                <a:latin typeface="Trebuchet MS"/>
                <a:cs typeface="Trebuchet MS"/>
              </a:rPr>
              <a:t>e</a:t>
            </a:r>
            <a:r>
              <a:rPr sz="3000" spc="-170" dirty="0">
                <a:solidFill>
                  <a:srgbClr val="2A3890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A3890"/>
                </a:solidFill>
                <a:latin typeface="Trebuchet MS"/>
                <a:cs typeface="Trebuchet MS"/>
              </a:rPr>
              <a:t>Modeling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2525" y="2224532"/>
            <a:ext cx="3002280" cy="9931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0"/>
              </a:spcBef>
            </a:pPr>
            <a:r>
              <a:rPr sz="2100" spc="-10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21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FFFFF"/>
                </a:solidFill>
                <a:latin typeface="Trebuchet MS"/>
                <a:cs typeface="Trebuchet MS"/>
              </a:rPr>
              <a:t>precision</a:t>
            </a:r>
            <a:r>
              <a:rPr sz="21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1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Trebuchet MS"/>
                <a:cs typeface="Trebuchet MS"/>
              </a:rPr>
              <a:t>recall </a:t>
            </a:r>
            <a:r>
              <a:rPr sz="2100" spc="-6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60" dirty="0">
                <a:solidFill>
                  <a:srgbClr val="FFFFFF"/>
                </a:solidFill>
                <a:latin typeface="Trebuchet MS"/>
                <a:cs typeface="Trebuchet MS"/>
              </a:rPr>
              <a:t>sco</a:t>
            </a:r>
            <a:r>
              <a:rPr sz="2100" spc="2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100" spc="10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100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21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30" dirty="0">
                <a:solidFill>
                  <a:srgbClr val="FFFFFF"/>
                </a:solidFill>
                <a:latin typeface="Trebuchet MS"/>
                <a:cs typeface="Trebuchet MS"/>
              </a:rPr>
              <a:t>ca</a:t>
            </a:r>
            <a:r>
              <a:rPr sz="2100" spc="3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21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60" dirty="0">
                <a:solidFill>
                  <a:srgbClr val="FFFFFF"/>
                </a:solidFill>
                <a:latin typeface="Trebuchet MS"/>
                <a:cs typeface="Trebuchet MS"/>
              </a:rPr>
              <a:t>th</a:t>
            </a:r>
            <a:r>
              <a:rPr sz="2100" spc="-6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1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35" dirty="0">
                <a:solidFill>
                  <a:srgbClr val="FFFFFF"/>
                </a:solidFill>
                <a:latin typeface="Trebuchet MS"/>
                <a:cs typeface="Trebuchet MS"/>
              </a:rPr>
              <a:t>models  </a:t>
            </a:r>
            <a:r>
              <a:rPr sz="2100" spc="10" dirty="0">
                <a:solidFill>
                  <a:srgbClr val="FFFFFF"/>
                </a:solidFill>
                <a:latin typeface="Trebuchet MS"/>
                <a:cs typeface="Trebuchet MS"/>
              </a:rPr>
              <a:t>achieve?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2365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Modeling</a:t>
            </a:r>
            <a:r>
              <a:rPr spc="-225" dirty="0"/>
              <a:t> </a:t>
            </a:r>
            <a:r>
              <a:rPr spc="-50" dirty="0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6137" y="1426037"/>
            <a:ext cx="2352040" cy="617855"/>
            <a:chOff x="456137" y="1426037"/>
            <a:chExt cx="2352040" cy="617855"/>
          </a:xfrm>
        </p:grpSpPr>
        <p:sp>
          <p:nvSpPr>
            <p:cNvPr id="4" name="object 4"/>
            <p:cNvSpPr/>
            <p:nvPr/>
          </p:nvSpPr>
          <p:spPr>
            <a:xfrm>
              <a:off x="460900" y="1430799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30">
                  <a:moveTo>
                    <a:pt x="2240797" y="607799"/>
                  </a:move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2"/>
                  </a:ln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2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900" y="1430799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30">
                  <a:moveTo>
                    <a:pt x="0" y="101302"/>
                  </a:move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2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63595" y="1590047"/>
            <a:ext cx="14560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Deﬁn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oblem: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0125" y="1564197"/>
            <a:ext cx="44831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5" dirty="0">
                <a:latin typeface="Trebuchet MS"/>
                <a:cs typeface="Trebuchet MS"/>
              </a:rPr>
              <a:t>Supervised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learning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215" dirty="0">
                <a:latin typeface="Trebuchet MS"/>
                <a:cs typeface="Trebuchet MS"/>
              </a:rPr>
              <a:t>/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binary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10" dirty="0">
                <a:latin typeface="Trebuchet MS"/>
                <a:cs typeface="Trebuchet MS"/>
              </a:rPr>
              <a:t>classiﬁcation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8249" y="2402398"/>
            <a:ext cx="34258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25" dirty="0">
                <a:latin typeface="Trebuchet MS"/>
                <a:cs typeface="Trebuchet MS"/>
              </a:rPr>
              <a:t>78%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non-default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5" dirty="0">
                <a:latin typeface="Trebuchet MS"/>
                <a:cs typeface="Trebuchet MS"/>
              </a:rPr>
              <a:t>vs.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125" dirty="0">
                <a:latin typeface="Trebuchet MS"/>
                <a:cs typeface="Trebuchet MS"/>
              </a:rPr>
              <a:t>22%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default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6137" y="2264237"/>
            <a:ext cx="2352040" cy="617855"/>
            <a:chOff x="456137" y="2264237"/>
            <a:chExt cx="2352040" cy="617855"/>
          </a:xfrm>
        </p:grpSpPr>
        <p:sp>
          <p:nvSpPr>
            <p:cNvPr id="10" name="object 10"/>
            <p:cNvSpPr/>
            <p:nvPr/>
          </p:nvSpPr>
          <p:spPr>
            <a:xfrm>
              <a:off x="460900" y="2269000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30">
                  <a:moveTo>
                    <a:pt x="2240797" y="607799"/>
                  </a:move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1"/>
                  </a:ln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1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0900" y="2269000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30">
                  <a:moveTo>
                    <a:pt x="0" y="101301"/>
                  </a:move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1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3595" y="2422976"/>
            <a:ext cx="2007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Trebuchet MS"/>
                <a:cs typeface="Trebuchet MS"/>
              </a:rPr>
              <a:t>Imbalanced</a:t>
            </a:r>
            <a:r>
              <a:rPr sz="17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spc="35" dirty="0">
                <a:solidFill>
                  <a:srgbClr val="FFFFFF"/>
                </a:solidFill>
                <a:latin typeface="Trebuchet MS"/>
                <a:cs typeface="Trebuchet MS"/>
              </a:rPr>
              <a:t>Classes: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6137" y="3102437"/>
            <a:ext cx="2352040" cy="617855"/>
            <a:chOff x="456137" y="3102437"/>
            <a:chExt cx="2352040" cy="617855"/>
          </a:xfrm>
        </p:grpSpPr>
        <p:sp>
          <p:nvSpPr>
            <p:cNvPr id="14" name="object 14"/>
            <p:cNvSpPr/>
            <p:nvPr/>
          </p:nvSpPr>
          <p:spPr>
            <a:xfrm>
              <a:off x="460900" y="3107200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29">
                  <a:moveTo>
                    <a:pt x="2240797" y="607799"/>
                  </a:move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1"/>
                  </a:ln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1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0900" y="3107200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29">
                  <a:moveTo>
                    <a:pt x="0" y="101301"/>
                  </a:move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1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3595" y="3266447"/>
            <a:ext cx="10801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600" spc="45" dirty="0">
                <a:solidFill>
                  <a:srgbClr val="FFFFFF"/>
                </a:solidFill>
                <a:latin typeface="Trebuchet MS"/>
                <a:cs typeface="Trebuchet MS"/>
              </a:rPr>
              <a:t>ools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Used: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18775" y="3240598"/>
            <a:ext cx="33750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Trebuchet MS"/>
                <a:cs typeface="Trebuchet MS"/>
              </a:rPr>
              <a:t>Sciki</a:t>
            </a:r>
            <a:r>
              <a:rPr sz="1900" spc="-5" dirty="0">
                <a:latin typeface="Trebuchet MS"/>
                <a:cs typeface="Trebuchet MS"/>
              </a:rPr>
              <a:t>t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lear</a:t>
            </a:r>
            <a:r>
              <a:rPr sz="1900" spc="-45" dirty="0">
                <a:latin typeface="Trebuchet MS"/>
                <a:cs typeface="Trebuchet MS"/>
              </a:rPr>
              <a:t>n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75">
                <a:latin typeface="Trebuchet MS"/>
                <a:cs typeface="Trebuchet MS"/>
              </a:rPr>
              <a:t>lib</a:t>
            </a:r>
            <a:r>
              <a:rPr sz="1900" spc="-110">
                <a:latin typeface="Trebuchet MS"/>
                <a:cs typeface="Trebuchet MS"/>
              </a:rPr>
              <a:t>r</a:t>
            </a:r>
            <a:r>
              <a:rPr sz="1900" spc="-40">
                <a:latin typeface="Trebuchet MS"/>
                <a:cs typeface="Trebuchet MS"/>
              </a:rPr>
              <a:t>a</a:t>
            </a:r>
            <a:r>
              <a:rPr sz="1900" spc="-20">
                <a:latin typeface="Trebuchet MS"/>
                <a:cs typeface="Trebuchet MS"/>
              </a:rPr>
              <a:t>r</a:t>
            </a:r>
            <a:r>
              <a:rPr sz="1900" spc="-40">
                <a:latin typeface="Trebuchet MS"/>
                <a:cs typeface="Trebuchet MS"/>
              </a:rPr>
              <a:t>y</a:t>
            </a:r>
            <a:r>
              <a:rPr sz="1900" spc="-105">
                <a:latin typeface="Trebuchet MS"/>
                <a:cs typeface="Trebuchet MS"/>
              </a:rPr>
              <a:t> 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6137" y="3940637"/>
            <a:ext cx="2352040" cy="617855"/>
            <a:chOff x="456137" y="3940637"/>
            <a:chExt cx="2352040" cy="617855"/>
          </a:xfrm>
        </p:grpSpPr>
        <p:sp>
          <p:nvSpPr>
            <p:cNvPr id="19" name="object 19"/>
            <p:cNvSpPr/>
            <p:nvPr/>
          </p:nvSpPr>
          <p:spPr>
            <a:xfrm>
              <a:off x="460900" y="3945399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29">
                  <a:moveTo>
                    <a:pt x="2240797" y="607799"/>
                  </a:move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1"/>
                  </a:ln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1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900" y="3945399"/>
              <a:ext cx="2342515" cy="608330"/>
            </a:xfrm>
            <a:custGeom>
              <a:avLst/>
              <a:gdLst/>
              <a:ahLst/>
              <a:cxnLst/>
              <a:rect l="l" t="t" r="r" b="b"/>
              <a:pathLst>
                <a:path w="2342515" h="608329">
                  <a:moveTo>
                    <a:pt x="0" y="101301"/>
                  </a:moveTo>
                  <a:lnTo>
                    <a:pt x="7960" y="61870"/>
                  </a:lnTo>
                  <a:lnTo>
                    <a:pt x="29670" y="29670"/>
                  </a:lnTo>
                  <a:lnTo>
                    <a:pt x="61870" y="7960"/>
                  </a:lnTo>
                  <a:lnTo>
                    <a:pt x="101301" y="0"/>
                  </a:lnTo>
                  <a:lnTo>
                    <a:pt x="2240797" y="0"/>
                  </a:lnTo>
                  <a:lnTo>
                    <a:pt x="2279564" y="7711"/>
                  </a:lnTo>
                  <a:lnTo>
                    <a:pt x="2312429" y="29670"/>
                  </a:lnTo>
                  <a:lnTo>
                    <a:pt x="2334388" y="62535"/>
                  </a:lnTo>
                  <a:lnTo>
                    <a:pt x="2342099" y="101301"/>
                  </a:lnTo>
                  <a:lnTo>
                    <a:pt x="2342099" y="506497"/>
                  </a:lnTo>
                  <a:lnTo>
                    <a:pt x="2334139" y="545929"/>
                  </a:lnTo>
                  <a:lnTo>
                    <a:pt x="2312429" y="578129"/>
                  </a:lnTo>
                  <a:lnTo>
                    <a:pt x="2280229" y="599839"/>
                  </a:lnTo>
                  <a:lnTo>
                    <a:pt x="2240797" y="607799"/>
                  </a:lnTo>
                  <a:lnTo>
                    <a:pt x="101301" y="607799"/>
                  </a:lnTo>
                  <a:lnTo>
                    <a:pt x="61870" y="599839"/>
                  </a:lnTo>
                  <a:lnTo>
                    <a:pt x="29670" y="578129"/>
                  </a:lnTo>
                  <a:lnTo>
                    <a:pt x="7960" y="545929"/>
                  </a:lnTo>
                  <a:lnTo>
                    <a:pt x="0" y="506497"/>
                  </a:lnTo>
                  <a:lnTo>
                    <a:pt x="0" y="101301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3595" y="4104647"/>
            <a:ext cx="1475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r>
              <a:rPr sz="1600" spc="5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Applied: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14</a:t>
            </a:fld>
            <a:endParaRPr spc="35" dirty="0"/>
          </a:p>
        </p:txBody>
      </p:sp>
      <p:sp>
        <p:nvSpPr>
          <p:cNvPr id="22" name="object 22"/>
          <p:cNvSpPr txBox="1"/>
          <p:nvPr/>
        </p:nvSpPr>
        <p:spPr>
          <a:xfrm>
            <a:off x="2918775" y="4078797"/>
            <a:ext cx="514032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0" dirty="0">
                <a:latin typeface="Trebuchet MS"/>
                <a:cs typeface="Trebuchet MS"/>
              </a:rPr>
              <a:t>Logisti</a:t>
            </a:r>
            <a:r>
              <a:rPr sz="1900" spc="30" dirty="0">
                <a:latin typeface="Trebuchet MS"/>
                <a:cs typeface="Trebuchet MS"/>
              </a:rPr>
              <a:t>c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5" dirty="0">
                <a:latin typeface="Trebuchet MS"/>
                <a:cs typeface="Trebuchet MS"/>
              </a:rPr>
              <a:t>Reg</a:t>
            </a:r>
            <a:r>
              <a:rPr sz="1900" spc="-15" dirty="0">
                <a:latin typeface="Trebuchet MS"/>
                <a:cs typeface="Trebuchet MS"/>
              </a:rPr>
              <a:t>r</a:t>
            </a:r>
            <a:r>
              <a:rPr sz="1900" spc="55" dirty="0">
                <a:latin typeface="Trebuchet MS"/>
                <a:cs typeface="Trebuchet MS"/>
              </a:rPr>
              <a:t>essio</a:t>
            </a:r>
            <a:r>
              <a:rPr sz="1900" spc="75" dirty="0">
                <a:latin typeface="Trebuchet MS"/>
                <a:cs typeface="Trebuchet MS"/>
              </a:rPr>
              <a:t>n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215" dirty="0">
                <a:latin typeface="Trebuchet MS"/>
                <a:cs typeface="Trebuchet MS"/>
              </a:rPr>
              <a:t>/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35" dirty="0">
                <a:latin typeface="Trebuchet MS"/>
                <a:cs typeface="Trebuchet MS"/>
              </a:rPr>
              <a:t>Rando</a:t>
            </a:r>
            <a:r>
              <a:rPr sz="1900" spc="60" dirty="0">
                <a:latin typeface="Trebuchet MS"/>
                <a:cs typeface="Trebuchet MS"/>
              </a:rPr>
              <a:t>m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25" dirty="0">
                <a:latin typeface="Trebuchet MS"/>
                <a:cs typeface="Trebuchet MS"/>
              </a:rPr>
              <a:t>F</a:t>
            </a:r>
            <a:r>
              <a:rPr sz="1900" spc="-25" dirty="0">
                <a:latin typeface="Trebuchet MS"/>
                <a:cs typeface="Trebuchet MS"/>
              </a:rPr>
              <a:t>o</a:t>
            </a:r>
            <a:r>
              <a:rPr sz="1900" spc="-35" dirty="0">
                <a:latin typeface="Trebuchet MS"/>
                <a:cs typeface="Trebuchet MS"/>
              </a:rPr>
              <a:t>r</a:t>
            </a:r>
            <a:r>
              <a:rPr sz="1900" spc="10" dirty="0">
                <a:latin typeface="Trebuchet MS"/>
                <a:cs typeface="Trebuchet MS"/>
              </a:rPr>
              <a:t>est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215">
                <a:latin typeface="Trebuchet MS"/>
                <a:cs typeface="Trebuchet MS"/>
              </a:rPr>
              <a:t>/</a:t>
            </a:r>
            <a:r>
              <a:rPr sz="1900" spc="-105">
                <a:latin typeface="Trebuchet MS"/>
                <a:cs typeface="Trebuchet MS"/>
              </a:rPr>
              <a:t> </a:t>
            </a:r>
            <a:r>
              <a:rPr lang="en-US" sz="1900" spc="-105" dirty="0" smtClean="0">
                <a:latin typeface="Trebuchet MS"/>
                <a:cs typeface="Trebuchet MS"/>
              </a:rPr>
              <a:t>KNN/SVM/Decision Tree/Naïve-</a:t>
            </a:r>
            <a:r>
              <a:rPr lang="en-US" sz="1900" spc="-105" dirty="0" err="1" smtClean="0">
                <a:latin typeface="Trebuchet MS"/>
                <a:cs typeface="Trebuchet MS"/>
              </a:rPr>
              <a:t>Bayes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2656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Modelin</a:t>
            </a:r>
            <a:r>
              <a:rPr spc="55" dirty="0"/>
              <a:t>g</a:t>
            </a:r>
            <a:r>
              <a:rPr spc="-165" dirty="0"/>
              <a:t> </a:t>
            </a:r>
            <a:r>
              <a:rPr spc="80" dirty="0"/>
              <a:t>Steps</a:t>
            </a:r>
          </a:p>
        </p:txBody>
      </p:sp>
      <p:sp>
        <p:nvSpPr>
          <p:cNvPr id="3" name="object 3"/>
          <p:cNvSpPr/>
          <p:nvPr/>
        </p:nvSpPr>
        <p:spPr>
          <a:xfrm>
            <a:off x="432350" y="1304875"/>
            <a:ext cx="2469515" cy="608330"/>
          </a:xfrm>
          <a:custGeom>
            <a:avLst/>
            <a:gdLst/>
            <a:ahLst/>
            <a:cxnLst/>
            <a:rect l="l" t="t" r="r" b="b"/>
            <a:pathLst>
              <a:path w="2469515" h="608330">
                <a:moveTo>
                  <a:pt x="2165399" y="607799"/>
                </a:moveTo>
                <a:lnTo>
                  <a:pt x="0" y="607799"/>
                </a:lnTo>
                <a:lnTo>
                  <a:pt x="0" y="0"/>
                </a:lnTo>
                <a:lnTo>
                  <a:pt x="2165399" y="0"/>
                </a:lnTo>
                <a:lnTo>
                  <a:pt x="2469299" y="303899"/>
                </a:lnTo>
                <a:lnTo>
                  <a:pt x="2165399" y="6077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5375" y="1464122"/>
            <a:ext cx="17926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Dat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spc="-45" dirty="0">
                <a:solidFill>
                  <a:srgbClr val="FFFFFF"/>
                </a:solidFill>
                <a:latin typeface="Trebuchet MS"/>
                <a:cs typeface="Trebuchet MS"/>
              </a:rPr>
              <a:t>ep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spc="50" dirty="0">
                <a:solidFill>
                  <a:srgbClr val="FFFFFF"/>
                </a:solidFill>
                <a:latin typeface="Trebuchet MS"/>
                <a:cs typeface="Trebuchet MS"/>
              </a:rPr>
              <a:t>ocessing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512" y="2097880"/>
            <a:ext cx="2312670" cy="136088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4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F</a:t>
            </a:r>
            <a:r>
              <a:rPr sz="1500" spc="-45" dirty="0">
                <a:solidFill>
                  <a:srgbClr val="434343"/>
                </a:solidFill>
                <a:latin typeface="Trebuchet MS"/>
                <a:cs typeface="Trebuchet MS"/>
              </a:rPr>
              <a:t>eatur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e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Trebuchet MS"/>
                <a:cs typeface="Trebuchet MS"/>
              </a:rPr>
              <a:t>selection</a:t>
            </a:r>
            <a:endParaRPr sz="1500">
              <a:latin typeface="Trebuchet MS"/>
              <a:cs typeface="Trebuchet MS"/>
            </a:endParaRPr>
          </a:p>
          <a:p>
            <a:pPr marL="356235" indent="-344170">
              <a:lnSpc>
                <a:spcPct val="100000"/>
              </a:lnSpc>
              <a:spcBef>
                <a:spcPts val="3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F</a:t>
            </a:r>
            <a:r>
              <a:rPr sz="1500" spc="-45" dirty="0">
                <a:solidFill>
                  <a:srgbClr val="434343"/>
                </a:solidFill>
                <a:latin typeface="Trebuchet MS"/>
                <a:cs typeface="Trebuchet MS"/>
              </a:rPr>
              <a:t>eatur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e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5" dirty="0">
                <a:solidFill>
                  <a:srgbClr val="434343"/>
                </a:solidFill>
                <a:latin typeface="Trebuchet MS"/>
                <a:cs typeface="Trebuchet MS"/>
              </a:rPr>
              <a:t>engineering</a:t>
            </a:r>
            <a:endParaRPr sz="1500">
              <a:latin typeface="Trebuchet MS"/>
              <a:cs typeface="Trebuchet MS"/>
            </a:endParaRPr>
          </a:p>
          <a:p>
            <a:pPr marL="356235" marR="5080" indent="-344170">
              <a:lnSpc>
                <a:spcPct val="116700"/>
              </a:lnSpc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-35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500" spc="-11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35" dirty="0">
                <a:solidFill>
                  <a:srgbClr val="434343"/>
                </a:solidFill>
                <a:latin typeface="Trebuchet MS"/>
                <a:cs typeface="Trebuchet MS"/>
              </a:rPr>
              <a:t>ain-tes</a:t>
            </a:r>
            <a:r>
              <a:rPr sz="1500" spc="-30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5" dirty="0">
                <a:solidFill>
                  <a:srgbClr val="434343"/>
                </a:solidFill>
                <a:latin typeface="Trebuchet MS"/>
                <a:cs typeface="Trebuchet MS"/>
              </a:rPr>
              <a:t>data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splitting  </a:t>
            </a:r>
            <a:r>
              <a:rPr sz="1500" spc="35" dirty="0">
                <a:solidFill>
                  <a:srgbClr val="434343"/>
                </a:solidFill>
                <a:latin typeface="Trebuchet MS"/>
                <a:cs typeface="Trebuchet MS"/>
              </a:rPr>
              <a:t>(70%/30%)</a:t>
            </a:r>
            <a:endParaRPr sz="1500">
              <a:latin typeface="Trebuchet MS"/>
              <a:cs typeface="Trebuchet MS"/>
            </a:endParaRPr>
          </a:p>
          <a:p>
            <a:pPr marL="356235" indent="-344170">
              <a:lnSpc>
                <a:spcPct val="100000"/>
              </a:lnSpc>
              <a:spcBef>
                <a:spcPts val="3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-35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500" spc="-11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5" dirty="0">
                <a:solidFill>
                  <a:srgbClr val="434343"/>
                </a:solidFill>
                <a:latin typeface="Trebuchet MS"/>
                <a:cs typeface="Trebuchet MS"/>
              </a:rPr>
              <a:t>ainin</a:t>
            </a:r>
            <a:r>
              <a:rPr sz="1500" dirty="0">
                <a:solidFill>
                  <a:srgbClr val="434343"/>
                </a:solidFill>
                <a:latin typeface="Trebuchet MS"/>
                <a:cs typeface="Trebuchet MS"/>
              </a:rPr>
              <a:t>g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5">
                <a:solidFill>
                  <a:srgbClr val="434343"/>
                </a:solidFill>
                <a:latin typeface="Trebuchet MS"/>
                <a:cs typeface="Trebuchet MS"/>
              </a:rPr>
              <a:t>data</a:t>
            </a:r>
            <a:r>
              <a:rPr sz="1500" spc="-85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95" smtClean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15" smtClean="0">
                <a:solidFill>
                  <a:srgbClr val="434343"/>
                </a:solidFill>
                <a:latin typeface="Trebuchet MS"/>
                <a:cs typeface="Trebuchet MS"/>
              </a:rPr>
              <a:t>escaling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4776" y="1304875"/>
            <a:ext cx="2760980" cy="608330"/>
          </a:xfrm>
          <a:custGeom>
            <a:avLst/>
            <a:gdLst/>
            <a:ahLst/>
            <a:cxnLst/>
            <a:rect l="l" t="t" r="r" b="b"/>
            <a:pathLst>
              <a:path w="2760979" h="608330">
                <a:moveTo>
                  <a:pt x="2456699" y="607799"/>
                </a:moveTo>
                <a:lnTo>
                  <a:pt x="0" y="607799"/>
                </a:lnTo>
                <a:lnTo>
                  <a:pt x="303899" y="303899"/>
                </a:lnTo>
                <a:lnTo>
                  <a:pt x="0" y="0"/>
                </a:lnTo>
                <a:lnTo>
                  <a:pt x="2456699" y="0"/>
                </a:lnTo>
                <a:lnTo>
                  <a:pt x="2760599" y="303899"/>
                </a:lnTo>
                <a:lnTo>
                  <a:pt x="2456699" y="6077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05031" y="1475735"/>
            <a:ext cx="1637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Fittin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6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600" spc="5" dirty="0">
                <a:solidFill>
                  <a:srgbClr val="FFFFFF"/>
                </a:solidFill>
                <a:latin typeface="Trebuchet MS"/>
                <a:cs typeface="Trebuchet MS"/>
              </a:rPr>
              <a:t>uning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1812" y="2097880"/>
            <a:ext cx="2409190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19685" indent="-344170">
              <a:lnSpc>
                <a:spcPct val="116700"/>
              </a:lnSpc>
              <a:spcBef>
                <a:spcPts val="1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-5" dirty="0">
                <a:solidFill>
                  <a:srgbClr val="434343"/>
                </a:solidFill>
                <a:latin typeface="Trebuchet MS"/>
                <a:cs typeface="Trebuchet MS"/>
              </a:rPr>
              <a:t>Sta</a:t>
            </a:r>
            <a:r>
              <a:rPr sz="1500" spc="35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105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434343"/>
                </a:solidFill>
                <a:latin typeface="Trebuchet MS"/>
                <a:cs typeface="Trebuchet MS"/>
              </a:rPr>
              <a:t>with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434343"/>
                </a:solidFill>
                <a:latin typeface="Trebuchet MS"/>
                <a:cs typeface="Trebuchet MS"/>
              </a:rPr>
              <a:t>defaul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34343"/>
                </a:solidFill>
                <a:latin typeface="Trebuchet MS"/>
                <a:cs typeface="Trebuchet MS"/>
              </a:rPr>
              <a:t>model  </a:t>
            </a:r>
            <a:r>
              <a:rPr sz="1500" spc="-10" dirty="0">
                <a:solidFill>
                  <a:srgbClr val="434343"/>
                </a:solidFill>
                <a:latin typeface="Trebuchet MS"/>
                <a:cs typeface="Trebuchet MS"/>
              </a:rPr>
              <a:t>parameters</a:t>
            </a:r>
            <a:endParaRPr sz="1500">
              <a:latin typeface="Trebuchet MS"/>
              <a:cs typeface="Trebuchet MS"/>
            </a:endParaRPr>
          </a:p>
          <a:p>
            <a:pPr marL="356235" indent="-344170">
              <a:lnSpc>
                <a:spcPct val="100000"/>
              </a:lnSpc>
              <a:spcBef>
                <a:spcPts val="3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-15" dirty="0">
                <a:solidFill>
                  <a:srgbClr val="434343"/>
                </a:solidFill>
                <a:latin typeface="Trebuchet MS"/>
                <a:cs typeface="Trebuchet MS"/>
              </a:rPr>
              <a:t>Hyperpa</a:t>
            </a:r>
            <a:r>
              <a:rPr sz="1500" spc="-4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dirty="0">
                <a:solidFill>
                  <a:srgbClr val="434343"/>
                </a:solidFill>
                <a:latin typeface="Trebuchet MS"/>
                <a:cs typeface="Trebuchet MS"/>
              </a:rPr>
              <a:t>ameters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5" dirty="0">
                <a:solidFill>
                  <a:srgbClr val="434343"/>
                </a:solidFill>
                <a:latin typeface="Trebuchet MS"/>
                <a:cs typeface="Trebuchet MS"/>
              </a:rPr>
              <a:t>tuning</a:t>
            </a:r>
            <a:endParaRPr sz="1500">
              <a:latin typeface="Trebuchet MS"/>
              <a:cs typeface="Trebuchet MS"/>
            </a:endParaRPr>
          </a:p>
          <a:p>
            <a:pPr marL="356235" marR="172085" indent="-344170">
              <a:lnSpc>
                <a:spcPct val="116700"/>
              </a:lnSpc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40" dirty="0">
                <a:solidFill>
                  <a:srgbClr val="434343"/>
                </a:solidFill>
                <a:latin typeface="Trebuchet MS"/>
                <a:cs typeface="Trebuchet MS"/>
              </a:rPr>
              <a:t>Measure</a:t>
            </a:r>
            <a:r>
              <a:rPr sz="1500" spc="-11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ROC_AUC</a:t>
            </a:r>
            <a:r>
              <a:rPr sz="1500" spc="-11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on </a:t>
            </a:r>
            <a:r>
              <a:rPr sz="1500" spc="-440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434343"/>
                </a:solidFill>
                <a:latin typeface="Trebuchet MS"/>
                <a:cs typeface="Trebuchet MS"/>
              </a:rPr>
              <a:t>t</a:t>
            </a:r>
            <a:r>
              <a:rPr sz="1500" spc="-12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5" dirty="0">
                <a:solidFill>
                  <a:srgbClr val="434343"/>
                </a:solidFill>
                <a:latin typeface="Trebuchet MS"/>
                <a:cs typeface="Trebuchet MS"/>
              </a:rPr>
              <a:t>ainin</a:t>
            </a:r>
            <a:r>
              <a:rPr sz="1500" dirty="0">
                <a:solidFill>
                  <a:srgbClr val="434343"/>
                </a:solidFill>
                <a:latin typeface="Trebuchet MS"/>
                <a:cs typeface="Trebuchet MS"/>
              </a:rPr>
              <a:t>g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5" dirty="0">
                <a:solidFill>
                  <a:srgbClr val="434343"/>
                </a:solidFill>
                <a:latin typeface="Trebuchet MS"/>
                <a:cs typeface="Trebuchet MS"/>
              </a:rPr>
              <a:t>data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48501" y="1304875"/>
            <a:ext cx="2760980" cy="608330"/>
          </a:xfrm>
          <a:custGeom>
            <a:avLst/>
            <a:gdLst/>
            <a:ahLst/>
            <a:cxnLst/>
            <a:rect l="l" t="t" r="r" b="b"/>
            <a:pathLst>
              <a:path w="2760979" h="608330">
                <a:moveTo>
                  <a:pt x="2456699" y="607799"/>
                </a:moveTo>
                <a:lnTo>
                  <a:pt x="0" y="607799"/>
                </a:lnTo>
                <a:lnTo>
                  <a:pt x="303899" y="303899"/>
                </a:lnTo>
                <a:lnTo>
                  <a:pt x="0" y="0"/>
                </a:lnTo>
                <a:lnTo>
                  <a:pt x="2456699" y="0"/>
                </a:lnTo>
                <a:lnTo>
                  <a:pt x="2760599" y="303899"/>
                </a:lnTo>
                <a:lnTo>
                  <a:pt x="2456699" y="6077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27257" y="1464122"/>
            <a:ext cx="1625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r>
              <a:rPr sz="1600" spc="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Evaluation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15</a:t>
            </a:fld>
            <a:endParaRPr spc="35" dirty="0"/>
          </a:p>
        </p:txBody>
      </p:sp>
      <p:sp>
        <p:nvSpPr>
          <p:cNvPr id="11" name="object 11"/>
          <p:cNvSpPr txBox="1"/>
          <p:nvPr/>
        </p:nvSpPr>
        <p:spPr>
          <a:xfrm>
            <a:off x="5993312" y="2097880"/>
            <a:ext cx="2269490" cy="1361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4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55" dirty="0">
                <a:solidFill>
                  <a:srgbClr val="434343"/>
                </a:solidFill>
                <a:latin typeface="Trebuchet MS"/>
                <a:cs typeface="Trebuchet MS"/>
              </a:rPr>
              <a:t>Model</a:t>
            </a:r>
            <a:r>
              <a:rPr sz="1500" spc="45" dirty="0">
                <a:solidFill>
                  <a:srgbClr val="434343"/>
                </a:solidFill>
                <a:latin typeface="Trebuchet MS"/>
                <a:cs typeface="Trebuchet MS"/>
              </a:rPr>
              <a:t>s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Trebuchet MS"/>
                <a:cs typeface="Trebuchet MS"/>
              </a:rPr>
              <a:t>testing</a:t>
            </a:r>
            <a:endParaRPr sz="1500">
              <a:latin typeface="Trebuchet MS"/>
              <a:cs typeface="Trebuchet MS"/>
            </a:endParaRPr>
          </a:p>
          <a:p>
            <a:pPr marL="356235" indent="-344170">
              <a:lnSpc>
                <a:spcPct val="100000"/>
              </a:lnSpc>
              <a:spcBef>
                <a:spcPts val="300"/>
              </a:spcBef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15" dirty="0">
                <a:solidFill>
                  <a:srgbClr val="434343"/>
                </a:solidFill>
                <a:latin typeface="Trebuchet MS"/>
                <a:cs typeface="Trebuchet MS"/>
              </a:rPr>
              <a:t>P</a:t>
            </a:r>
            <a:r>
              <a:rPr sz="1500" spc="-5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10" dirty="0">
                <a:solidFill>
                  <a:srgbClr val="434343"/>
                </a:solidFill>
                <a:latin typeface="Trebuchet MS"/>
                <a:cs typeface="Trebuchet MS"/>
              </a:rPr>
              <a:t>ecision_Recal</a:t>
            </a:r>
            <a:r>
              <a:rPr sz="1500" spc="-5" dirty="0">
                <a:solidFill>
                  <a:srgbClr val="434343"/>
                </a:solidFill>
                <a:latin typeface="Trebuchet MS"/>
                <a:cs typeface="Trebuchet MS"/>
              </a:rPr>
              <a:t>l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40" dirty="0">
                <a:solidFill>
                  <a:srgbClr val="434343"/>
                </a:solidFill>
                <a:latin typeface="Trebuchet MS"/>
                <a:cs typeface="Trebuchet MS"/>
              </a:rPr>
              <a:t>sco</a:t>
            </a: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e</a:t>
            </a:r>
            <a:endParaRPr sz="1500">
              <a:latin typeface="Trebuchet MS"/>
              <a:cs typeface="Trebuchet MS"/>
            </a:endParaRPr>
          </a:p>
          <a:p>
            <a:pPr marL="356235" marR="69215" indent="-344170">
              <a:lnSpc>
                <a:spcPct val="116700"/>
              </a:lnSpc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Compa</a:t>
            </a:r>
            <a:r>
              <a:rPr sz="150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e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434343"/>
                </a:solidFill>
                <a:latin typeface="Trebuchet MS"/>
                <a:cs typeface="Trebuchet MS"/>
              </a:rPr>
              <a:t>with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5">
                <a:solidFill>
                  <a:srgbClr val="434343"/>
                </a:solidFill>
                <a:latin typeface="Trebuchet MS"/>
                <a:cs typeface="Trebuchet MS"/>
              </a:rPr>
              <a:t>sklearn  </a:t>
            </a:r>
            <a:endParaRPr sz="1500">
              <a:latin typeface="Trebuchet MS"/>
              <a:cs typeface="Trebuchet MS"/>
            </a:endParaRPr>
          </a:p>
          <a:p>
            <a:pPr marL="356235" marR="110489" indent="-344170">
              <a:lnSpc>
                <a:spcPct val="116700"/>
              </a:lnSpc>
              <a:buFont typeface="Arial"/>
              <a:buChar char="●"/>
              <a:tabLst>
                <a:tab pos="356235" algn="l"/>
                <a:tab pos="356870" algn="l"/>
              </a:tabLst>
            </a:pPr>
            <a:r>
              <a:rPr sz="1500" spc="20" dirty="0">
                <a:solidFill>
                  <a:srgbClr val="434343"/>
                </a:solidFill>
                <a:latin typeface="Trebuchet MS"/>
                <a:cs typeface="Trebuchet MS"/>
              </a:rPr>
              <a:t>Compa</a:t>
            </a:r>
            <a:r>
              <a:rPr sz="1500" dirty="0">
                <a:solidFill>
                  <a:srgbClr val="434343"/>
                </a:solidFill>
                <a:latin typeface="Trebuchet MS"/>
                <a:cs typeface="Trebuchet MS"/>
              </a:rPr>
              <a:t>r</a:t>
            </a:r>
            <a:r>
              <a:rPr sz="1500" spc="-25" dirty="0">
                <a:solidFill>
                  <a:srgbClr val="434343"/>
                </a:solidFill>
                <a:latin typeface="Trebuchet MS"/>
                <a:cs typeface="Trebuchet MS"/>
              </a:rPr>
              <a:t>e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434343"/>
                </a:solidFill>
                <a:latin typeface="Trebuchet MS"/>
                <a:cs typeface="Trebuchet MS"/>
              </a:rPr>
              <a:t>withi</a:t>
            </a:r>
            <a:r>
              <a:rPr sz="1500" spc="-45" dirty="0">
                <a:solidFill>
                  <a:srgbClr val="434343"/>
                </a:solidFill>
                <a:latin typeface="Trebuchet MS"/>
                <a:cs typeface="Trebuchet MS"/>
              </a:rPr>
              <a:t>n</a:t>
            </a:r>
            <a:r>
              <a:rPr sz="1500" spc="-8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500" spc="-45">
                <a:solidFill>
                  <a:srgbClr val="434343"/>
                </a:solidFill>
                <a:latin typeface="Trebuchet MS"/>
                <a:cs typeface="Trebuchet MS"/>
              </a:rPr>
              <a:t>the</a:t>
            </a:r>
            <a:r>
              <a:rPr sz="1500" spc="-85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lang="en-US" sz="1500" spc="35" dirty="0" smtClean="0">
                <a:solidFill>
                  <a:srgbClr val="434343"/>
                </a:solidFill>
                <a:latin typeface="Trebuchet MS"/>
                <a:cs typeface="Trebuchet MS"/>
              </a:rPr>
              <a:t>6</a:t>
            </a:r>
            <a:r>
              <a:rPr sz="1500" spc="35" smtClean="0">
                <a:solidFill>
                  <a:srgbClr val="434343"/>
                </a:solidFill>
                <a:latin typeface="Trebuchet MS"/>
                <a:cs typeface="Trebuchet MS"/>
              </a:rPr>
              <a:t>  </a:t>
            </a:r>
            <a:r>
              <a:rPr sz="1500" spc="25" dirty="0">
                <a:solidFill>
                  <a:srgbClr val="434343"/>
                </a:solidFill>
                <a:latin typeface="Trebuchet MS"/>
                <a:cs typeface="Trebuchet MS"/>
              </a:rPr>
              <a:t>models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16</a:t>
            </a:fld>
            <a:endParaRPr spc="3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4184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Hyperpa</a:t>
            </a:r>
            <a:r>
              <a:rPr spc="-75" dirty="0"/>
              <a:t>r</a:t>
            </a:r>
            <a:r>
              <a:rPr dirty="0"/>
              <a:t>ameter</a:t>
            </a:r>
            <a:r>
              <a:rPr spc="5" dirty="0"/>
              <a:t>s</a:t>
            </a:r>
            <a:r>
              <a:rPr spc="-229" dirty="0"/>
              <a:t> </a:t>
            </a:r>
            <a:r>
              <a:rPr spc="-95" dirty="0"/>
              <a:t>T</a:t>
            </a:r>
            <a:r>
              <a:rPr spc="10" dirty="0"/>
              <a:t>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296" y="1267411"/>
            <a:ext cx="7218045" cy="147320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b="1" spc="-40" dirty="0">
                <a:latin typeface="Trebuchet MS"/>
                <a:cs typeface="Trebuchet MS"/>
              </a:rPr>
              <a:t>K-Fold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b="1" spc="35" dirty="0">
                <a:latin typeface="Trebuchet MS"/>
                <a:cs typeface="Trebuchet MS"/>
              </a:rPr>
              <a:t>Cross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b="1" spc="-35" dirty="0">
                <a:latin typeface="Trebuchet MS"/>
                <a:cs typeface="Trebuchet MS"/>
              </a:rPr>
              <a:t>Validation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to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get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average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performance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25" dirty="0">
                <a:latin typeface="Trebuchet MS"/>
                <a:cs typeface="Trebuchet MS"/>
              </a:rPr>
              <a:t>on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the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folds.</a:t>
            </a:r>
            <a:endParaRPr sz="1600">
              <a:latin typeface="Trebuchet MS"/>
              <a:cs typeface="Trebuchet MS"/>
            </a:endParaRPr>
          </a:p>
          <a:p>
            <a:pPr marL="363855" indent="-351790">
              <a:lnSpc>
                <a:spcPct val="100000"/>
              </a:lnSpc>
              <a:spcBef>
                <a:spcPts val="9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b="1" spc="-25" dirty="0">
                <a:latin typeface="Trebuchet MS"/>
                <a:cs typeface="Trebuchet MS"/>
              </a:rPr>
              <a:t>Randomized</a:t>
            </a:r>
            <a:r>
              <a:rPr sz="1600" b="1" spc="-90" dirty="0">
                <a:latin typeface="Trebuchet MS"/>
                <a:cs typeface="Trebuchet MS"/>
              </a:rPr>
              <a:t> </a:t>
            </a:r>
            <a:r>
              <a:rPr sz="1600" b="1" spc="-15" dirty="0">
                <a:latin typeface="Trebuchet MS"/>
                <a:cs typeface="Trebuchet MS"/>
              </a:rPr>
              <a:t>Search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spc="25" dirty="0">
                <a:latin typeface="Trebuchet MS"/>
                <a:cs typeface="Trebuchet MS"/>
              </a:rPr>
              <a:t>on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Logistic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30" dirty="0">
                <a:latin typeface="Trebuchet MS"/>
                <a:cs typeface="Trebuchet MS"/>
              </a:rPr>
              <a:t>Regression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since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C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has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large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search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space.</a:t>
            </a:r>
            <a:endParaRPr sz="1600">
              <a:latin typeface="Trebuchet MS"/>
              <a:cs typeface="Trebuchet MS"/>
            </a:endParaRPr>
          </a:p>
          <a:p>
            <a:pPr marL="363855" indent="-351790">
              <a:lnSpc>
                <a:spcPct val="100000"/>
              </a:lnSpc>
              <a:spcBef>
                <a:spcPts val="9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b="1" spc="-45" dirty="0">
                <a:latin typeface="Trebuchet MS"/>
                <a:cs typeface="Trebuchet MS"/>
              </a:rPr>
              <a:t>Grid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b="1" spc="-15" dirty="0">
                <a:latin typeface="Trebuchet MS"/>
                <a:cs typeface="Trebuchet MS"/>
              </a:rPr>
              <a:t>Search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spc="25" dirty="0">
                <a:latin typeface="Trebuchet MS"/>
                <a:cs typeface="Trebuchet MS"/>
              </a:rPr>
              <a:t>on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30" dirty="0">
                <a:latin typeface="Trebuchet MS"/>
                <a:cs typeface="Trebuchet MS"/>
              </a:rPr>
              <a:t>Random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Forest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25" dirty="0">
                <a:latin typeface="Trebuchet MS"/>
                <a:cs typeface="Trebuchet MS"/>
              </a:rPr>
              <a:t>on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limited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parameters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combinations.</a:t>
            </a:r>
            <a:endParaRPr sz="1600">
              <a:latin typeface="Trebuchet MS"/>
              <a:cs typeface="Trebuchet MS"/>
            </a:endParaRPr>
          </a:p>
          <a:p>
            <a:pPr marL="363855" indent="-351790">
              <a:lnSpc>
                <a:spcPct val="100000"/>
              </a:lnSpc>
              <a:spcBef>
                <a:spcPts val="93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b="1" spc="-25" dirty="0">
                <a:latin typeface="Trebuchet MS"/>
                <a:cs typeface="Trebuchet MS"/>
              </a:rPr>
              <a:t>Randomized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b="1" spc="-15" dirty="0">
                <a:latin typeface="Trebuchet MS"/>
                <a:cs typeface="Trebuchet MS"/>
              </a:rPr>
              <a:t>Search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spc="25" dirty="0">
                <a:latin typeface="Trebuchet MS"/>
                <a:cs typeface="Trebuchet MS"/>
              </a:rPr>
              <a:t>on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45" dirty="0">
                <a:latin typeface="Trebuchet MS"/>
                <a:cs typeface="Trebuchet MS"/>
              </a:rPr>
              <a:t>XGBoost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25" dirty="0">
                <a:latin typeface="Trebuchet MS"/>
                <a:cs typeface="Trebuchet MS"/>
              </a:rPr>
              <a:t>because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multiple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hyperparameters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to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tune.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433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Model</a:t>
            </a:r>
            <a:r>
              <a:rPr spc="-210" dirty="0"/>
              <a:t> </a:t>
            </a:r>
            <a:r>
              <a:rPr spc="75" dirty="0"/>
              <a:t>Comparisons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2855" y="1170894"/>
            <a:ext cx="5607685" cy="61595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384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sz="1700" spc="15" dirty="0">
                <a:latin typeface="Trebuchet MS"/>
                <a:cs typeface="Trebuchet MS"/>
              </a:rPr>
              <a:t>Compare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50">
                <a:latin typeface="Trebuchet MS"/>
                <a:cs typeface="Trebuchet MS"/>
              </a:rPr>
              <a:t>the</a:t>
            </a:r>
            <a:r>
              <a:rPr sz="1700" spc="-90">
                <a:latin typeface="Trebuchet MS"/>
                <a:cs typeface="Trebuchet MS"/>
              </a:rPr>
              <a:t> </a:t>
            </a:r>
            <a:r>
              <a:rPr sz="1700" spc="30" smtClean="0">
                <a:latin typeface="Trebuchet MS"/>
                <a:cs typeface="Trebuchet MS"/>
              </a:rPr>
              <a:t>models</a:t>
            </a:r>
            <a:endParaRPr sz="1700">
              <a:latin typeface="Trebuchet MS"/>
              <a:cs typeface="Trebuchet MS"/>
            </a:endParaRPr>
          </a:p>
          <a:p>
            <a:pPr marL="371475" indent="-359410">
              <a:lnSpc>
                <a:spcPct val="100000"/>
              </a:lnSpc>
              <a:spcBef>
                <a:spcPts val="284"/>
              </a:spcBef>
              <a:buFont typeface="Arial"/>
              <a:buChar char="●"/>
              <a:tabLst>
                <a:tab pos="371475" algn="l"/>
                <a:tab pos="372110" algn="l"/>
              </a:tabLst>
            </a:pPr>
            <a:r>
              <a:rPr lang="en-US" sz="1700" spc="-35" dirty="0" smtClean="0">
                <a:latin typeface="Trebuchet MS"/>
                <a:cs typeface="Trebuchet MS"/>
              </a:rPr>
              <a:t>SVM and Logistic regression gave the best accuracy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17</a:t>
            </a:fld>
            <a:endParaRPr spc="35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47800" y="2038350"/>
          <a:ext cx="6095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674914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LR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KNN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SVM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82.0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79.7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82.7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79.2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80.8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79.7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precision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67.6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60.4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72.6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55.4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66.7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55.8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34.8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22.0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34.1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27.3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25.8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36.4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75.5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71.4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63.3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77.0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71.7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18</a:t>
            </a:fld>
            <a:endParaRPr spc="3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2112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649" y="1233300"/>
            <a:ext cx="741362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13384" indent="-367030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latin typeface="Trebuchet MS"/>
                <a:cs typeface="Trebuchet MS"/>
              </a:rPr>
              <a:t>Recen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2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p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30" dirty="0">
                <a:latin typeface="Trebuchet MS"/>
                <a:cs typeface="Trebuchet MS"/>
              </a:rPr>
              <a:t>ymen</a:t>
            </a:r>
            <a:r>
              <a:rPr sz="1800" spc="-15" dirty="0">
                <a:latin typeface="Trebuchet MS"/>
                <a:cs typeface="Trebuchet MS"/>
              </a:rPr>
              <a:t>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status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an</a:t>
            </a:r>
            <a:r>
              <a:rPr sz="1800" spc="15" dirty="0">
                <a:latin typeface="Trebuchet MS"/>
                <a:cs typeface="Trebuchet MS"/>
              </a:rPr>
              <a:t>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c</a:t>
            </a:r>
            <a:r>
              <a:rPr sz="1800" spc="-40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edi</a:t>
            </a:r>
            <a:r>
              <a:rPr sz="1800" spc="-50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limi</a:t>
            </a:r>
            <a:r>
              <a:rPr sz="1800" spc="-5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30" dirty="0">
                <a:latin typeface="Trebuchet MS"/>
                <a:cs typeface="Trebuchet MS"/>
              </a:rPr>
              <a:t>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st</a:t>
            </a:r>
            <a:r>
              <a:rPr sz="1800" spc="-30" dirty="0">
                <a:latin typeface="Trebuchet MS"/>
                <a:cs typeface="Trebuchet MS"/>
              </a:rPr>
              <a:t>r</a:t>
            </a:r>
            <a:r>
              <a:rPr sz="1800" spc="30" dirty="0">
                <a:latin typeface="Trebuchet MS"/>
                <a:cs typeface="Trebuchet MS"/>
              </a:rPr>
              <a:t>ongest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default  </a:t>
            </a:r>
            <a:r>
              <a:rPr sz="1800" spc="-35" dirty="0">
                <a:latin typeface="Trebuchet MS"/>
                <a:cs typeface="Trebuchet MS"/>
              </a:rPr>
              <a:t>predictors.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latin typeface="Trebuchet MS"/>
                <a:cs typeface="Trebuchet MS"/>
              </a:rPr>
              <a:t>Dormant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customers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can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also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have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default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risk.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35" dirty="0">
                <a:latin typeface="Trebuchet MS"/>
                <a:cs typeface="Trebuchet MS"/>
              </a:rPr>
              <a:t>Random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Forest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has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the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best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precision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and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recall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balance.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latin typeface="Trebuchet MS"/>
                <a:cs typeface="Trebuchet MS"/>
              </a:rPr>
              <a:t>Higher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recall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can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be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achieved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if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low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precision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is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acceptable.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45" dirty="0">
                <a:latin typeface="Trebuchet MS"/>
                <a:cs typeface="Trebuchet MS"/>
              </a:rPr>
              <a:t>Mode</a:t>
            </a:r>
            <a:r>
              <a:rPr sz="1800" spc="25" dirty="0">
                <a:latin typeface="Trebuchet MS"/>
                <a:cs typeface="Trebuchet MS"/>
              </a:rPr>
              <a:t>l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ca</a:t>
            </a:r>
            <a:r>
              <a:rPr sz="1800" spc="30" dirty="0">
                <a:latin typeface="Trebuchet MS"/>
                <a:cs typeface="Trebuchet MS"/>
              </a:rPr>
              <a:t>n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</a:t>
            </a:r>
            <a:r>
              <a:rPr sz="1800" spc="-15" dirty="0">
                <a:latin typeface="Trebuchet MS"/>
                <a:cs typeface="Trebuchet MS"/>
              </a:rPr>
              <a:t>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se</a:t>
            </a:r>
            <a:r>
              <a:rPr sz="1800" spc="30" dirty="0">
                <a:latin typeface="Trebuchet MS"/>
                <a:cs typeface="Trebuchet MS"/>
              </a:rPr>
              <a:t>r</a:t>
            </a:r>
            <a:r>
              <a:rPr sz="1800" spc="-25" dirty="0">
                <a:latin typeface="Trebuchet MS"/>
                <a:cs typeface="Trebuchet MS"/>
              </a:rPr>
              <a:t>v</a:t>
            </a:r>
            <a:r>
              <a:rPr sz="1800" spc="-15" dirty="0">
                <a:latin typeface="Trebuchet MS"/>
                <a:cs typeface="Trebuchet MS"/>
              </a:rPr>
              <a:t>e</a:t>
            </a:r>
            <a:r>
              <a:rPr sz="1800" spc="-10" dirty="0">
                <a:latin typeface="Trebuchet MS"/>
                <a:cs typeface="Trebuchet MS"/>
              </a:rPr>
              <a:t>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a</a:t>
            </a:r>
            <a:r>
              <a:rPr sz="1800" spc="100" dirty="0">
                <a:latin typeface="Trebuchet MS"/>
                <a:cs typeface="Trebuchet MS"/>
              </a:rPr>
              <a:t>s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a</a:t>
            </a:r>
            <a:r>
              <a:rPr sz="1800" spc="20" dirty="0">
                <a:latin typeface="Trebuchet MS"/>
                <a:cs typeface="Trebuchet MS"/>
              </a:rPr>
              <a:t>n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aid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t</a:t>
            </a:r>
            <a:r>
              <a:rPr sz="1800" spc="60" dirty="0">
                <a:latin typeface="Trebuchet MS"/>
                <a:cs typeface="Trebuchet MS"/>
              </a:rPr>
              <a:t>o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huma</a:t>
            </a:r>
            <a:r>
              <a:rPr sz="1800" spc="25" dirty="0">
                <a:latin typeface="Trebuchet MS"/>
                <a:cs typeface="Trebuchet MS"/>
              </a:rPr>
              <a:t>n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decision.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60" dirty="0">
                <a:latin typeface="Trebuchet MS"/>
                <a:cs typeface="Trebuchet MS"/>
              </a:rPr>
              <a:t>Suggest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output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probabilities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rather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than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predictions.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45" dirty="0">
                <a:latin typeface="Trebuchet MS"/>
                <a:cs typeface="Trebuchet MS"/>
              </a:rPr>
              <a:t>Model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can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be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improved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with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more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data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and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computational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resources.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14389" y="2243445"/>
            <a:ext cx="3709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45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6000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155" dirty="0">
                <a:solidFill>
                  <a:srgbClr val="FFFFFF"/>
                </a:solidFill>
                <a:latin typeface="Trebuchet MS"/>
                <a:cs typeface="Trebuchet MS"/>
              </a:rPr>
              <a:t>you!</a:t>
            </a:r>
            <a:endParaRPr sz="6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35" dirty="0"/>
              <a:pPr marL="38100">
                <a:lnSpc>
                  <a:spcPct val="100000"/>
                </a:lnSpc>
                <a:spcBef>
                  <a:spcPts val="25"/>
                </a:spcBef>
              </a:pPr>
              <a:t>19</a:t>
            </a:fld>
            <a:endParaRPr spc="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657</Words>
  <Application>Microsoft Office PowerPoint</Application>
  <PresentationFormat>On-screen Show (16:9)</PresentationFormat>
  <Paragraphs>164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Credit Card Default Prediction</vt:lpstr>
      <vt:lpstr>Problems to Resolve</vt:lpstr>
      <vt:lpstr>Who Should Care?</vt:lpstr>
      <vt:lpstr>Approach Overview</vt:lpstr>
      <vt:lpstr>Data Acquisition</vt:lpstr>
      <vt:lpstr>Slide 6</vt:lpstr>
      <vt:lpstr>Gender Variable</vt:lpstr>
      <vt:lpstr>Slide 8</vt:lpstr>
      <vt:lpstr>Age Variable</vt:lpstr>
      <vt:lpstr>Marital Status Variable</vt:lpstr>
      <vt:lpstr>Credit Limit Variable</vt:lpstr>
      <vt:lpstr>EDA Summary</vt:lpstr>
      <vt:lpstr>Part 2</vt:lpstr>
      <vt:lpstr>Modeling Overview</vt:lpstr>
      <vt:lpstr>Modeling Steps</vt:lpstr>
      <vt:lpstr>Hyperparameters Tuning</vt:lpstr>
      <vt:lpstr>Model Comparisons</vt:lpstr>
      <vt:lpstr>Conclusions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Default Prediction</dc:title>
  <cp:lastModifiedBy>SHUNMUKAM</cp:lastModifiedBy>
  <cp:revision>10</cp:revision>
  <dcterms:created xsi:type="dcterms:W3CDTF">2022-05-07T07:42:32Z</dcterms:created>
  <dcterms:modified xsi:type="dcterms:W3CDTF">2022-05-07T08:17:28Z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